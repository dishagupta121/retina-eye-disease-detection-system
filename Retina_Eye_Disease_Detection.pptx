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2545"/>
                </a:solidFill>
                <a:latin typeface="Arial"/>
              </a:defRPr>
            </a:pPr>
            <a:r>
              <a:rPr lang="en-US" sz="1100" b="0" i="0" u="none" strike="noStrike">
                <a:solidFill>
                  <a:srgbClr val="0B2545"/>
                </a:solidFill>
                <a:latin typeface="Arial"/>
              </a:rPr>
              <a:t>F1-Score by Class (%)</a:t>
            </a:r>
          </a:p>
        </c:rich>
      </c:tx>
      <c:overlay val="0"/>
    </c:title>
    <c:autoTitleDeleted val="0"/>
    <c:plotArea>
      <c:layout/>
      <c:barChart>
        <c:barDir val="col"/>
        <c:grouping val="clustered"/>
        <c:varyColors val="0"/>
        <c:ser>
          <c:idx val="0"/>
          <c:order val="0"/>
          <c:tx>
            <c:strRef>
              <c:f>Sheet1!$B$1</c:f>
              <c:strCache>
                <c:ptCount val="1"/>
                <c:pt idx="0">
                  <c:v>F1-Score (%)</c:v>
                </c:pt>
              </c:strCache>
            </c:strRef>
          </c:tx>
          <c:spPr>
            <a:solidFill>
              <a:srgbClr val="1A7A9A"/>
            </a:solidFill>
            <a:effectLst/>
          </c:spPr>
          <c:invertIfNegative val="0"/>
          <c:dPt>
            <c:idx val="0"/>
            <c:invertIfNegative val="0"/>
            <c:bubble3D val="0"/>
            <c:extLst>
              <c:ext xmlns:c16="http://schemas.microsoft.com/office/drawing/2014/chart" uri="{C3380CC4-5D6E-409C-BE32-E72D297353CC}">
                <c16:uniqueId val="{00000001-06BE-4CA3-AFFB-20FB80ABFD70}"/>
              </c:ext>
            </c:extLst>
          </c:dPt>
          <c:dPt>
            <c:idx val="1"/>
            <c:invertIfNegative val="0"/>
            <c:bubble3D val="0"/>
            <c:spPr>
              <a:solidFill>
                <a:srgbClr val="0B2545"/>
              </a:solidFill>
              <a:effectLst/>
            </c:spPr>
            <c:extLst>
              <c:ext xmlns:c16="http://schemas.microsoft.com/office/drawing/2014/chart" uri="{C3380CC4-5D6E-409C-BE32-E72D297353CC}">
                <c16:uniqueId val="{00000003-06BE-4CA3-AFFB-20FB80ABFD70}"/>
              </c:ext>
            </c:extLst>
          </c:dPt>
          <c:dPt>
            <c:idx val="2"/>
            <c:invertIfNegative val="0"/>
            <c:bubble3D val="0"/>
            <c:spPr>
              <a:solidFill>
                <a:srgbClr val="1A8C5B"/>
              </a:solidFill>
              <a:effectLst/>
            </c:spPr>
            <c:extLst>
              <c:ext xmlns:c16="http://schemas.microsoft.com/office/drawing/2014/chart" uri="{C3380CC4-5D6E-409C-BE32-E72D297353CC}">
                <c16:uniqueId val="{00000005-06BE-4CA3-AFFB-20FB80ABFD70}"/>
              </c:ext>
            </c:extLst>
          </c:dPt>
          <c:dPt>
            <c:idx val="3"/>
            <c:invertIfNegative val="0"/>
            <c:bubble3D val="0"/>
            <c:spPr>
              <a:solidFill>
                <a:srgbClr val="2EC4B6"/>
              </a:solidFill>
              <a:effectLst/>
            </c:spPr>
            <c:extLst>
              <c:ext xmlns:c16="http://schemas.microsoft.com/office/drawing/2014/chart" uri="{C3380CC4-5D6E-409C-BE32-E72D297353CC}">
                <c16:uniqueId val="{00000007-06BE-4CA3-AFFB-20FB80ABFD70}"/>
              </c:ext>
            </c:extLst>
          </c:dPt>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Cataract</c:v>
                </c:pt>
                <c:pt idx="1">
                  <c:v>Diab. Ret.</c:v>
                </c:pt>
                <c:pt idx="2">
                  <c:v>Glaucoma</c:v>
                </c:pt>
                <c:pt idx="3">
                  <c:v>Normal</c:v>
                </c:pt>
              </c:strCache>
            </c:strRef>
          </c:cat>
          <c:val>
            <c:numRef>
              <c:f>Sheet1!$B$2:$B$5</c:f>
              <c:numCache>
                <c:formatCode>General</c:formatCode>
                <c:ptCount val="4"/>
                <c:pt idx="0">
                  <c:v>94.2</c:v>
                </c:pt>
                <c:pt idx="1">
                  <c:v>91.5</c:v>
                </c:pt>
                <c:pt idx="2">
                  <c:v>89.6</c:v>
                </c:pt>
                <c:pt idx="3">
                  <c:v>96.3</c:v>
                </c:pt>
              </c:numCache>
            </c:numRef>
          </c:val>
          <c:extLst>
            <c:ext xmlns:c16="http://schemas.microsoft.com/office/drawing/2014/chart" uri="{C3380CC4-5D6E-409C-BE32-E72D297353CC}">
              <c16:uniqueId val="{00000008-06BE-4CA3-AFFB-20FB80ABFD7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9117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EC4B6"/>
          </a:solidFill>
          <a:ln/>
        </p:spPr>
        <p:txBody>
          <a:bodyPr/>
          <a:lstStyle/>
          <a:p>
            <a:endParaRPr lang="en-US"/>
          </a:p>
        </p:txBody>
      </p:sp>
      <p:sp>
        <p:nvSpPr>
          <p:cNvPr id="3" name="Shape 1"/>
          <p:cNvSpPr/>
          <p:nvPr/>
        </p:nvSpPr>
        <p:spPr>
          <a:xfrm>
            <a:off x="6217920" y="411480"/>
            <a:ext cx="2743200" cy="2743200"/>
          </a:xfrm>
          <a:prstGeom prst="ellipse">
            <a:avLst/>
          </a:prstGeom>
          <a:solidFill>
            <a:srgbClr val="112255"/>
          </a:solidFill>
          <a:ln w="38100">
            <a:solidFill>
              <a:srgbClr val="2EC4B6"/>
            </a:solidFill>
            <a:prstDash val="solid"/>
          </a:ln>
        </p:spPr>
        <p:txBody>
          <a:bodyPr/>
          <a:lstStyle/>
          <a:p>
            <a:endParaRPr lang="en-US"/>
          </a:p>
        </p:txBody>
      </p:sp>
      <p:sp>
        <p:nvSpPr>
          <p:cNvPr id="4" name="Shape 2"/>
          <p:cNvSpPr/>
          <p:nvPr/>
        </p:nvSpPr>
        <p:spPr>
          <a:xfrm>
            <a:off x="6720840" y="914400"/>
            <a:ext cx="1737360" cy="1737360"/>
          </a:xfrm>
          <a:prstGeom prst="ellipse">
            <a:avLst/>
          </a:prstGeom>
          <a:solidFill>
            <a:srgbClr val="1A7A9A">
              <a:alpha val="55000"/>
            </a:srgbClr>
          </a:solidFill>
          <a:ln w="25400">
            <a:solidFill>
              <a:srgbClr val="2EC4B6"/>
            </a:solidFill>
            <a:prstDash val="solid"/>
          </a:ln>
        </p:spPr>
        <p:txBody>
          <a:bodyPr/>
          <a:lstStyle/>
          <a:p>
            <a:endParaRPr lang="en-US"/>
          </a:p>
        </p:txBody>
      </p:sp>
      <p:sp>
        <p:nvSpPr>
          <p:cNvPr id="5" name="Shape 3"/>
          <p:cNvSpPr/>
          <p:nvPr/>
        </p:nvSpPr>
        <p:spPr>
          <a:xfrm>
            <a:off x="7178040" y="1371600"/>
            <a:ext cx="822960" cy="822960"/>
          </a:xfrm>
          <a:prstGeom prst="ellipse">
            <a:avLst/>
          </a:prstGeom>
          <a:solidFill>
            <a:srgbClr val="2EC4B6"/>
          </a:solidFill>
          <a:ln/>
        </p:spPr>
        <p:txBody>
          <a:bodyPr/>
          <a:lstStyle/>
          <a:p>
            <a:endParaRPr lang="en-US"/>
          </a:p>
        </p:txBody>
      </p:sp>
      <p:sp>
        <p:nvSpPr>
          <p:cNvPr id="6" name="Text 4"/>
          <p:cNvSpPr/>
          <p:nvPr/>
        </p:nvSpPr>
        <p:spPr>
          <a:xfrm>
            <a:off x="457200" y="685800"/>
            <a:ext cx="5486400" cy="1371600"/>
          </a:xfrm>
          <a:prstGeom prst="rect">
            <a:avLst/>
          </a:prstGeom>
          <a:noFill/>
          <a:ln/>
        </p:spPr>
        <p:txBody>
          <a:bodyPr wrap="square" lIns="0" tIns="0" rIns="0" bIns="0" rtlCol="0" anchor="ctr"/>
          <a:lstStyle/>
          <a:p>
            <a:pPr marL="0" indent="0" algn="l">
              <a:buNone/>
            </a:pPr>
            <a:r>
              <a:rPr lang="en-US" sz="3700" b="1" dirty="0">
                <a:solidFill>
                  <a:srgbClr val="FFFFFF"/>
                </a:solidFill>
                <a:latin typeface="Georgia" pitchFamily="34" charset="0"/>
                <a:ea typeface="Georgia" pitchFamily="34" charset="-122"/>
                <a:cs typeface="Georgia" pitchFamily="34" charset="-120"/>
              </a:rPr>
              <a:t>Retina Eye Disease Detection</a:t>
            </a:r>
            <a:endParaRPr lang="en-US" sz="3700" dirty="0"/>
          </a:p>
        </p:txBody>
      </p:sp>
      <p:sp>
        <p:nvSpPr>
          <p:cNvPr id="7" name="Text 5"/>
          <p:cNvSpPr/>
          <p:nvPr/>
        </p:nvSpPr>
        <p:spPr>
          <a:xfrm>
            <a:off x="457200" y="2011680"/>
            <a:ext cx="5486400" cy="685800"/>
          </a:xfrm>
          <a:prstGeom prst="rect">
            <a:avLst/>
          </a:prstGeom>
          <a:noFill/>
          <a:ln/>
        </p:spPr>
        <p:txBody>
          <a:bodyPr wrap="square" lIns="0" tIns="0" rIns="0" bIns="0" rtlCol="0" anchor="ctr"/>
          <a:lstStyle/>
          <a:p>
            <a:pPr marL="0" indent="0" algn="l">
              <a:buNone/>
            </a:pPr>
            <a:r>
              <a:rPr lang="en-US" sz="1500" i="1" dirty="0">
                <a:solidFill>
                  <a:srgbClr val="2EC4B6"/>
                </a:solidFill>
                <a:latin typeface="Calibri" pitchFamily="34" charset="0"/>
                <a:ea typeface="Calibri" pitchFamily="34" charset="-122"/>
                <a:cs typeface="Calibri" pitchFamily="34" charset="-120"/>
              </a:rPr>
              <a:t>AI-Powered Multi-Output Deep Learning for Classification &amp; Severity Estimation</a:t>
            </a:r>
            <a:endParaRPr lang="en-US" sz="1500" dirty="0"/>
          </a:p>
        </p:txBody>
      </p:sp>
      <p:sp>
        <p:nvSpPr>
          <p:cNvPr id="8" name="Shape 6"/>
          <p:cNvSpPr/>
          <p:nvPr/>
        </p:nvSpPr>
        <p:spPr>
          <a:xfrm>
            <a:off x="457200" y="2880360"/>
            <a:ext cx="8229600" cy="1874520"/>
          </a:xfrm>
          <a:prstGeom prst="rect">
            <a:avLst/>
          </a:prstGeom>
          <a:solidFill>
            <a:srgbClr val="1A7A9A">
              <a:alpha val="20000"/>
            </a:srgbClr>
          </a:solidFill>
          <a:ln w="12700">
            <a:solidFill>
              <a:srgbClr val="2EC4B6"/>
            </a:solidFill>
            <a:prstDash val="solid"/>
          </a:ln>
        </p:spPr>
        <p:txBody>
          <a:bodyPr/>
          <a:lstStyle/>
          <a:p>
            <a:endParaRPr lang="en-US"/>
          </a:p>
        </p:txBody>
      </p:sp>
      <p:sp>
        <p:nvSpPr>
          <p:cNvPr id="9" name="Text 7"/>
          <p:cNvSpPr/>
          <p:nvPr/>
        </p:nvSpPr>
        <p:spPr>
          <a:xfrm>
            <a:off x="658368" y="2971800"/>
            <a:ext cx="7772400" cy="365760"/>
          </a:xfrm>
          <a:prstGeom prst="rect">
            <a:avLst/>
          </a:prstGeom>
          <a:noFill/>
          <a:ln/>
        </p:spPr>
        <p:txBody>
          <a:bodyPr wrap="square" lIns="0" tIns="0" rIns="0" bIns="0" rtlCol="0" anchor="ctr"/>
          <a:lstStyle/>
          <a:p>
            <a:pPr marL="0" indent="0">
              <a:buNone/>
            </a:pPr>
            <a:r>
              <a:rPr lang="en-US" sz="1350" b="1" dirty="0">
                <a:solidFill>
                  <a:srgbClr val="2EC4B6"/>
                </a:solidFill>
                <a:latin typeface="Calibri" pitchFamily="34" charset="0"/>
                <a:ea typeface="Calibri" pitchFamily="34" charset="-122"/>
                <a:cs typeface="Calibri" pitchFamily="34" charset="-120"/>
              </a:rPr>
              <a:t>CSET485 — Case Study Based Project   |   Team No. S3-T23</a:t>
            </a:r>
            <a:endParaRPr lang="en-US" sz="1350" dirty="0"/>
          </a:p>
        </p:txBody>
      </p:sp>
      <p:sp>
        <p:nvSpPr>
          <p:cNvPr id="10" name="Text 8"/>
          <p:cNvSpPr/>
          <p:nvPr/>
        </p:nvSpPr>
        <p:spPr>
          <a:xfrm>
            <a:off x="658368" y="3337560"/>
            <a:ext cx="7772400" cy="320040"/>
          </a:xfrm>
          <a:prstGeom prst="rect">
            <a:avLst/>
          </a:prstGeom>
          <a:noFill/>
          <a:ln/>
        </p:spPr>
        <p:txBody>
          <a:bodyPr wrap="square" lIns="0" tIns="0" rIns="0" bIns="0" rtlCol="0" anchor="ctr"/>
          <a:lstStyle/>
          <a:p>
            <a:pPr marL="0" indent="0">
              <a:buNone/>
            </a:pPr>
            <a:r>
              <a:rPr lang="en-US" sz="1300" dirty="0">
                <a:solidFill>
                  <a:srgbClr val="D9E8EE"/>
                </a:solidFill>
                <a:latin typeface="Calibri" pitchFamily="34" charset="0"/>
                <a:ea typeface="Calibri" pitchFamily="34" charset="-122"/>
                <a:cs typeface="Calibri" pitchFamily="34" charset="-120"/>
              </a:rPr>
              <a:t>Submitted to: Dr. Susmita Das</a:t>
            </a:r>
            <a:endParaRPr lang="en-US" sz="1300" dirty="0"/>
          </a:p>
        </p:txBody>
      </p:sp>
      <p:sp>
        <p:nvSpPr>
          <p:cNvPr id="11" name="Text 9"/>
          <p:cNvSpPr/>
          <p:nvPr/>
        </p:nvSpPr>
        <p:spPr>
          <a:xfrm>
            <a:off x="658368" y="3657600"/>
            <a:ext cx="777240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Lakshay Nayak  (E23CSEU1873)   |   Disha Gupta  (E23CSEU2039)   |   Prashant Kumar  (E23CSEU1897)</a:t>
            </a:r>
            <a:endParaRPr lang="en-US" sz="1250" dirty="0"/>
          </a:p>
        </p:txBody>
      </p:sp>
      <p:sp>
        <p:nvSpPr>
          <p:cNvPr id="12" name="Text 10"/>
          <p:cNvSpPr/>
          <p:nvPr/>
        </p:nvSpPr>
        <p:spPr>
          <a:xfrm>
            <a:off x="658368" y="4096512"/>
            <a:ext cx="7772400" cy="347472"/>
          </a:xfrm>
          <a:prstGeom prst="rect">
            <a:avLst/>
          </a:prstGeom>
          <a:noFill/>
          <a:ln/>
        </p:spPr>
        <p:txBody>
          <a:bodyPr wrap="square" lIns="0" tIns="0" rIns="0" bIns="0" rtlCol="0" anchor="ctr"/>
          <a:lstStyle/>
          <a:p>
            <a:pPr marL="0" indent="0">
              <a:buNone/>
            </a:pPr>
            <a:r>
              <a:rPr lang="en-US" sz="1200" i="1" dirty="0">
                <a:solidFill>
                  <a:srgbClr val="AADDEE"/>
                </a:solidFill>
                <a:latin typeface="Calibri" pitchFamily="34" charset="0"/>
                <a:ea typeface="Calibri" pitchFamily="34" charset="-122"/>
                <a:cs typeface="Calibri" pitchFamily="34" charset="-120"/>
              </a:rPr>
              <a:t>Deadline: 24th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Individual Contributions</a:t>
            </a:r>
            <a:endParaRPr lang="en-US" sz="2700" dirty="0"/>
          </a:p>
        </p:txBody>
      </p:sp>
      <p:sp>
        <p:nvSpPr>
          <p:cNvPr id="5" name="Shape 3"/>
          <p:cNvSpPr/>
          <p:nvPr/>
        </p:nvSpPr>
        <p:spPr>
          <a:xfrm>
            <a:off x="274320" y="1115568"/>
            <a:ext cx="8595360" cy="117043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74320" y="1115568"/>
            <a:ext cx="1920240" cy="1170432"/>
          </a:xfrm>
          <a:prstGeom prst="rect">
            <a:avLst/>
          </a:prstGeom>
          <a:solidFill>
            <a:srgbClr val="0B2545"/>
          </a:solidFill>
          <a:ln/>
        </p:spPr>
        <p:txBody>
          <a:bodyPr/>
          <a:lstStyle/>
          <a:p>
            <a:endParaRPr lang="en-US"/>
          </a:p>
        </p:txBody>
      </p:sp>
      <p:sp>
        <p:nvSpPr>
          <p:cNvPr id="7" name="Text 5"/>
          <p:cNvSpPr/>
          <p:nvPr/>
        </p:nvSpPr>
        <p:spPr>
          <a:xfrm>
            <a:off x="320040" y="1225296"/>
            <a:ext cx="1828800"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Lakshay Nayak</a:t>
            </a:r>
            <a:endParaRPr lang="en-US" sz="1350" dirty="0"/>
          </a:p>
        </p:txBody>
      </p:sp>
      <p:sp>
        <p:nvSpPr>
          <p:cNvPr id="8" name="Text 6"/>
          <p:cNvSpPr/>
          <p:nvPr/>
        </p:nvSpPr>
        <p:spPr>
          <a:xfrm>
            <a:off x="320040" y="1618488"/>
            <a:ext cx="1828800" cy="256032"/>
          </a:xfrm>
          <a:prstGeom prst="rect">
            <a:avLst/>
          </a:prstGeom>
          <a:noFill/>
          <a:ln/>
        </p:spPr>
        <p:txBody>
          <a:bodyPr wrap="square" lIns="0" tIns="0" rIns="0" bIns="0" rtlCol="0" anchor="ctr"/>
          <a:lstStyle/>
          <a:p>
            <a:pPr marL="0" indent="0" algn="ctr">
              <a:buNone/>
            </a:pPr>
            <a:r>
              <a:rPr lang="en-US" sz="1100" i="1" dirty="0">
                <a:solidFill>
                  <a:srgbClr val="CCEEFF"/>
                </a:solidFill>
                <a:latin typeface="Calibri" pitchFamily="34" charset="0"/>
                <a:ea typeface="Calibri" pitchFamily="34" charset="-122"/>
                <a:cs typeface="Calibri" pitchFamily="34" charset="-120"/>
              </a:rPr>
              <a:t>E23CSEU1873</a:t>
            </a:r>
            <a:endParaRPr lang="en-US" sz="1100" dirty="0"/>
          </a:p>
        </p:txBody>
      </p:sp>
      <p:sp>
        <p:nvSpPr>
          <p:cNvPr id="9" name="Text 7"/>
          <p:cNvSpPr/>
          <p:nvPr/>
        </p:nvSpPr>
        <p:spPr>
          <a:xfrm>
            <a:off x="2331720" y="1170432"/>
            <a:ext cx="6355080" cy="164592"/>
          </a:xfrm>
          <a:prstGeom prst="rect">
            <a:avLst/>
          </a:prstGeom>
          <a:noFill/>
          <a:ln/>
        </p:spPr>
        <p:txBody>
          <a:bodyPr wrap="square" lIns="0" tIns="0" rIns="0" bIns="0" rtlCol="0" anchor="ctr"/>
          <a:lstStyle/>
          <a:p>
            <a:pPr marL="342900" indent="-342900">
              <a:buSzPct val="100000"/>
              <a:buChar char="•"/>
            </a:pPr>
            <a:r>
              <a:rPr lang="en-US" sz="1200" dirty="0"/>
              <a:t>Worked on the backend part of the project and helped in building the main logic of the system</a:t>
            </a:r>
            <a:endParaRPr lang="en-US" sz="1150" dirty="0"/>
          </a:p>
        </p:txBody>
      </p:sp>
      <p:sp>
        <p:nvSpPr>
          <p:cNvPr id="10" name="Text 8"/>
          <p:cNvSpPr/>
          <p:nvPr/>
        </p:nvSpPr>
        <p:spPr>
          <a:xfrm>
            <a:off x="2331720" y="1426464"/>
            <a:ext cx="6355080" cy="283464"/>
          </a:xfrm>
          <a:prstGeom prst="rect">
            <a:avLst/>
          </a:prstGeom>
          <a:noFill/>
          <a:ln/>
        </p:spPr>
        <p:txBody>
          <a:bodyPr wrap="square" lIns="0" tIns="0" rIns="0" bIns="0" rtlCol="0" anchor="ctr"/>
          <a:lstStyle/>
          <a:p>
            <a:pPr marL="342900" indent="-342900">
              <a:buSzPct val="100000"/>
              <a:buChar char="•"/>
            </a:pPr>
            <a:r>
              <a:rPr lang="en-US" sz="1150" dirty="0">
                <a:solidFill>
                  <a:srgbClr val="1A202C"/>
                </a:solidFill>
                <a:latin typeface="Calibri" pitchFamily="34" charset="0"/>
                <a:ea typeface="Calibri" pitchFamily="34" charset="-122"/>
                <a:cs typeface="Calibri" pitchFamily="34" charset="-120"/>
              </a:rPr>
              <a:t>Implemented the Softmax classification head and the regression </a:t>
            </a:r>
            <a:r>
              <a:rPr lang="en-US" sz="1150" dirty="0" err="1">
                <a:solidFill>
                  <a:srgbClr val="1A202C"/>
                </a:solidFill>
                <a:latin typeface="Calibri" pitchFamily="34" charset="0"/>
                <a:ea typeface="Calibri" pitchFamily="34" charset="-122"/>
                <a:cs typeface="Calibri" pitchFamily="34" charset="-120"/>
              </a:rPr>
              <a:t>hea</a:t>
            </a:r>
            <a:r>
              <a:rPr lang="en-US" sz="1200" dirty="0" err="1"/>
              <a:t>Looked</a:t>
            </a:r>
            <a:r>
              <a:rPr lang="en-US" sz="1200" dirty="0"/>
              <a:t> at the code carefully and wrote down how everything works in the project </a:t>
            </a:r>
            <a:r>
              <a:rPr lang="en-US" sz="1200" dirty="0" err="1"/>
              <a:t>report</a:t>
            </a:r>
            <a:r>
              <a:rPr lang="en-US" sz="1150" dirty="0" err="1">
                <a:solidFill>
                  <a:srgbClr val="1A202C"/>
                </a:solidFill>
                <a:latin typeface="Calibri" pitchFamily="34" charset="0"/>
                <a:ea typeface="Calibri" pitchFamily="34" charset="-122"/>
                <a:cs typeface="Calibri" pitchFamily="34" charset="-120"/>
              </a:rPr>
              <a:t>d</a:t>
            </a:r>
            <a:r>
              <a:rPr lang="en-US" sz="1150" dirty="0">
                <a:solidFill>
                  <a:srgbClr val="1A202C"/>
                </a:solidFill>
                <a:latin typeface="Calibri" pitchFamily="34" charset="0"/>
                <a:ea typeface="Calibri" pitchFamily="34" charset="-122"/>
                <a:cs typeface="Calibri" pitchFamily="34" charset="-120"/>
              </a:rPr>
              <a:t> for severity estimation</a:t>
            </a:r>
            <a:endParaRPr lang="en-US" sz="1150" dirty="0"/>
          </a:p>
        </p:txBody>
      </p:sp>
      <p:sp>
        <p:nvSpPr>
          <p:cNvPr id="11" name="Text 9"/>
          <p:cNvSpPr/>
          <p:nvPr/>
        </p:nvSpPr>
        <p:spPr>
          <a:xfrm>
            <a:off x="2331720" y="1783080"/>
            <a:ext cx="6812280" cy="265176"/>
          </a:xfrm>
          <a:prstGeom prst="rect">
            <a:avLst/>
          </a:prstGeom>
          <a:noFill/>
          <a:ln/>
        </p:spPr>
        <p:txBody>
          <a:bodyPr wrap="square" lIns="0" tIns="0" rIns="0" bIns="0" rtlCol="0" anchor="ctr"/>
          <a:lstStyle/>
          <a:p>
            <a:pPr marL="342900" indent="-342900">
              <a:buSzPct val="100000"/>
              <a:buChar char="•"/>
            </a:pPr>
            <a:r>
              <a:rPr lang="en-US" sz="1200" dirty="0"/>
              <a:t>Made the detailed report explaining what models we used, how they work, and why we chose them</a:t>
            </a:r>
            <a:endParaRPr lang="en-US" sz="1150" dirty="0"/>
          </a:p>
        </p:txBody>
      </p:sp>
      <p:sp>
        <p:nvSpPr>
          <p:cNvPr id="12" name="Text 10"/>
          <p:cNvSpPr/>
          <p:nvPr/>
        </p:nvSpPr>
        <p:spPr>
          <a:xfrm>
            <a:off x="2331720" y="1938528"/>
            <a:ext cx="6492240" cy="438912"/>
          </a:xfrm>
          <a:prstGeom prst="rect">
            <a:avLst/>
          </a:prstGeom>
          <a:noFill/>
          <a:ln/>
        </p:spPr>
        <p:txBody>
          <a:bodyPr wrap="square" lIns="0" tIns="0" rIns="0" bIns="0" rtlCol="0" anchor="ctr"/>
          <a:lstStyle/>
          <a:p>
            <a:pPr marL="342900" indent="-342900">
              <a:buSzPct val="100000"/>
              <a:buChar char="•"/>
            </a:pPr>
            <a:r>
              <a:rPr lang="en-US" sz="1200" dirty="0"/>
              <a:t>Helped in finding and fixing errors in the code and checked that the output was coming correctly</a:t>
            </a:r>
            <a:endParaRPr lang="en-US" sz="1150" dirty="0"/>
          </a:p>
        </p:txBody>
      </p:sp>
      <p:sp>
        <p:nvSpPr>
          <p:cNvPr id="13" name="Shape 11"/>
          <p:cNvSpPr/>
          <p:nvPr/>
        </p:nvSpPr>
        <p:spPr>
          <a:xfrm>
            <a:off x="274320" y="2377440"/>
            <a:ext cx="8595360" cy="117043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274320" y="2377440"/>
            <a:ext cx="1920240" cy="1170432"/>
          </a:xfrm>
          <a:prstGeom prst="rect">
            <a:avLst/>
          </a:prstGeom>
          <a:solidFill>
            <a:srgbClr val="1A7A9A"/>
          </a:solidFill>
          <a:ln/>
        </p:spPr>
        <p:txBody>
          <a:bodyPr/>
          <a:lstStyle/>
          <a:p>
            <a:endParaRPr lang="en-US"/>
          </a:p>
        </p:txBody>
      </p:sp>
      <p:sp>
        <p:nvSpPr>
          <p:cNvPr id="15" name="Text 13"/>
          <p:cNvSpPr/>
          <p:nvPr/>
        </p:nvSpPr>
        <p:spPr>
          <a:xfrm>
            <a:off x="320040" y="2487168"/>
            <a:ext cx="1828800"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Disha Gupta</a:t>
            </a:r>
            <a:endParaRPr lang="en-US" sz="1350" dirty="0"/>
          </a:p>
        </p:txBody>
      </p:sp>
      <p:sp>
        <p:nvSpPr>
          <p:cNvPr id="16" name="Text 14"/>
          <p:cNvSpPr/>
          <p:nvPr/>
        </p:nvSpPr>
        <p:spPr>
          <a:xfrm>
            <a:off x="320040" y="2880360"/>
            <a:ext cx="1828800" cy="256032"/>
          </a:xfrm>
          <a:prstGeom prst="rect">
            <a:avLst/>
          </a:prstGeom>
          <a:noFill/>
          <a:ln/>
        </p:spPr>
        <p:txBody>
          <a:bodyPr wrap="square" lIns="0" tIns="0" rIns="0" bIns="0" rtlCol="0" anchor="ctr"/>
          <a:lstStyle/>
          <a:p>
            <a:pPr marL="0" indent="0" algn="ctr">
              <a:buNone/>
            </a:pPr>
            <a:r>
              <a:rPr lang="en-US" sz="1100" i="1" dirty="0">
                <a:solidFill>
                  <a:srgbClr val="CCEEFF"/>
                </a:solidFill>
                <a:latin typeface="Calibri" pitchFamily="34" charset="0"/>
                <a:ea typeface="Calibri" pitchFamily="34" charset="-122"/>
                <a:cs typeface="Calibri" pitchFamily="34" charset="-120"/>
              </a:rPr>
              <a:t>E23CSEU2039</a:t>
            </a:r>
            <a:endParaRPr lang="en-US" sz="1100" dirty="0"/>
          </a:p>
        </p:txBody>
      </p:sp>
      <p:sp>
        <p:nvSpPr>
          <p:cNvPr id="17" name="Text 15"/>
          <p:cNvSpPr/>
          <p:nvPr/>
        </p:nvSpPr>
        <p:spPr>
          <a:xfrm>
            <a:off x="2331720" y="2432304"/>
            <a:ext cx="6355080" cy="274320"/>
          </a:xfrm>
          <a:prstGeom prst="rect">
            <a:avLst/>
          </a:prstGeom>
          <a:noFill/>
          <a:ln/>
        </p:spPr>
        <p:txBody>
          <a:bodyPr wrap="square" lIns="0" tIns="0" rIns="0" bIns="0" rtlCol="0" anchor="ctr"/>
          <a:lstStyle/>
          <a:p>
            <a:pPr marL="342900" indent="-342900">
              <a:buSzPct val="100000"/>
              <a:buChar char="•"/>
            </a:pPr>
            <a:r>
              <a:rPr lang="en-US" sz="1200" dirty="0"/>
              <a:t>Improved the look and feel of the user interface so it becomes easy to use for anyone</a:t>
            </a:r>
            <a:endParaRPr lang="en-US" sz="1150" dirty="0"/>
          </a:p>
        </p:txBody>
      </p:sp>
      <p:sp>
        <p:nvSpPr>
          <p:cNvPr id="18" name="Text 16"/>
          <p:cNvSpPr/>
          <p:nvPr/>
        </p:nvSpPr>
        <p:spPr>
          <a:xfrm>
            <a:off x="2331720" y="2688336"/>
            <a:ext cx="6355080" cy="274320"/>
          </a:xfrm>
          <a:prstGeom prst="rect">
            <a:avLst/>
          </a:prstGeom>
          <a:noFill/>
          <a:ln/>
        </p:spPr>
        <p:txBody>
          <a:bodyPr wrap="square" lIns="0" tIns="0" rIns="0" bIns="0" rtlCol="0" anchor="ctr"/>
          <a:lstStyle/>
          <a:p>
            <a:pPr marL="342900" indent="-342900">
              <a:buSzPct val="100000"/>
              <a:buChar char="•"/>
            </a:pPr>
            <a:r>
              <a:rPr lang="en-US" sz="1200" dirty="0"/>
              <a:t>Checked the whole code, cleaned it up, and made sure everything was running without issues</a:t>
            </a:r>
            <a:endParaRPr lang="en-US" sz="1150" dirty="0"/>
          </a:p>
        </p:txBody>
      </p:sp>
      <p:sp>
        <p:nvSpPr>
          <p:cNvPr id="19" name="Text 17"/>
          <p:cNvSpPr/>
          <p:nvPr/>
        </p:nvSpPr>
        <p:spPr>
          <a:xfrm>
            <a:off x="2331720" y="2944368"/>
            <a:ext cx="6355080" cy="274320"/>
          </a:xfrm>
          <a:prstGeom prst="rect">
            <a:avLst/>
          </a:prstGeom>
          <a:noFill/>
          <a:ln/>
        </p:spPr>
        <p:txBody>
          <a:bodyPr wrap="square" lIns="0" tIns="0" rIns="0" bIns="0" rtlCol="0" anchor="ctr"/>
          <a:lstStyle/>
          <a:p>
            <a:pPr marL="342900" indent="-342900">
              <a:buSzPct val="100000"/>
              <a:buChar char="•"/>
            </a:pPr>
            <a:r>
              <a:rPr lang="en-US" sz="1150" dirty="0">
                <a:solidFill>
                  <a:srgbClr val="1A202C"/>
                </a:solidFill>
                <a:latin typeface="Calibri" pitchFamily="34" charset="0"/>
                <a:ea typeface="Calibri" pitchFamily="34" charset="-122"/>
                <a:cs typeface="Calibri" pitchFamily="34" charset="-120"/>
              </a:rPr>
              <a:t>Created visualizations for class probability distributions and severity bar charts in the UI</a:t>
            </a:r>
            <a:endParaRPr lang="en-US" sz="1150" dirty="0"/>
          </a:p>
        </p:txBody>
      </p:sp>
      <p:sp>
        <p:nvSpPr>
          <p:cNvPr id="20" name="Text 18"/>
          <p:cNvSpPr/>
          <p:nvPr/>
        </p:nvSpPr>
        <p:spPr>
          <a:xfrm>
            <a:off x="2331720" y="3200400"/>
            <a:ext cx="6355080" cy="274320"/>
          </a:xfrm>
          <a:prstGeom prst="rect">
            <a:avLst/>
          </a:prstGeom>
          <a:noFill/>
          <a:ln/>
        </p:spPr>
        <p:txBody>
          <a:bodyPr wrap="square" lIns="0" tIns="0" rIns="0" bIns="0" rtlCol="0" anchor="ctr"/>
          <a:lstStyle/>
          <a:p>
            <a:pPr marL="342900" indent="-342900">
              <a:buSzPct val="100000"/>
              <a:buChar char="•"/>
            </a:pPr>
            <a:r>
              <a:rPr lang="en-US" sz="1200" dirty="0"/>
              <a:t>Uploaded the project on GitHub and managed all the updates and final version of the code</a:t>
            </a:r>
            <a:endParaRPr lang="en-US" sz="1150" dirty="0"/>
          </a:p>
        </p:txBody>
      </p:sp>
      <p:sp>
        <p:nvSpPr>
          <p:cNvPr id="21" name="Shape 19"/>
          <p:cNvSpPr/>
          <p:nvPr/>
        </p:nvSpPr>
        <p:spPr>
          <a:xfrm>
            <a:off x="274320" y="3639312"/>
            <a:ext cx="8702040" cy="1359408"/>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20"/>
          <p:cNvSpPr/>
          <p:nvPr/>
        </p:nvSpPr>
        <p:spPr>
          <a:xfrm>
            <a:off x="274320" y="3639312"/>
            <a:ext cx="1920240" cy="1170432"/>
          </a:xfrm>
          <a:prstGeom prst="rect">
            <a:avLst/>
          </a:prstGeom>
          <a:solidFill>
            <a:srgbClr val="1A8C5B"/>
          </a:solidFill>
          <a:ln/>
        </p:spPr>
        <p:txBody>
          <a:bodyPr/>
          <a:lstStyle/>
          <a:p>
            <a:endParaRPr lang="en-US"/>
          </a:p>
        </p:txBody>
      </p:sp>
      <p:sp>
        <p:nvSpPr>
          <p:cNvPr id="23" name="Text 21"/>
          <p:cNvSpPr/>
          <p:nvPr/>
        </p:nvSpPr>
        <p:spPr>
          <a:xfrm>
            <a:off x="320040" y="3749040"/>
            <a:ext cx="1828800"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Prashant Kumar</a:t>
            </a:r>
            <a:endParaRPr lang="en-US" sz="1350" dirty="0"/>
          </a:p>
        </p:txBody>
      </p:sp>
      <p:sp>
        <p:nvSpPr>
          <p:cNvPr id="24" name="Text 22"/>
          <p:cNvSpPr/>
          <p:nvPr/>
        </p:nvSpPr>
        <p:spPr>
          <a:xfrm>
            <a:off x="320040" y="4142232"/>
            <a:ext cx="1828800" cy="256032"/>
          </a:xfrm>
          <a:prstGeom prst="rect">
            <a:avLst/>
          </a:prstGeom>
          <a:noFill/>
          <a:ln/>
        </p:spPr>
        <p:txBody>
          <a:bodyPr wrap="square" lIns="0" tIns="0" rIns="0" bIns="0" rtlCol="0" anchor="ctr"/>
          <a:lstStyle/>
          <a:p>
            <a:pPr marL="0" indent="0" algn="ctr">
              <a:buNone/>
            </a:pPr>
            <a:r>
              <a:rPr lang="en-US" sz="1100" i="1" dirty="0">
                <a:solidFill>
                  <a:srgbClr val="CCEEFF"/>
                </a:solidFill>
                <a:latin typeface="Calibri" pitchFamily="34" charset="0"/>
                <a:ea typeface="Calibri" pitchFamily="34" charset="-122"/>
                <a:cs typeface="Calibri" pitchFamily="34" charset="-120"/>
              </a:rPr>
              <a:t>E23CSEU1897</a:t>
            </a:r>
            <a:endParaRPr lang="en-US" sz="1100" dirty="0"/>
          </a:p>
        </p:txBody>
      </p:sp>
      <p:sp>
        <p:nvSpPr>
          <p:cNvPr id="25" name="Text 23"/>
          <p:cNvSpPr/>
          <p:nvPr/>
        </p:nvSpPr>
        <p:spPr>
          <a:xfrm>
            <a:off x="2331720" y="3694176"/>
            <a:ext cx="6644640" cy="274320"/>
          </a:xfrm>
          <a:prstGeom prst="rect">
            <a:avLst/>
          </a:prstGeom>
          <a:noFill/>
          <a:ln/>
        </p:spPr>
        <p:txBody>
          <a:bodyPr wrap="square" lIns="0" tIns="0" rIns="0" bIns="0" rtlCol="0" anchor="ctr"/>
          <a:lstStyle/>
          <a:p>
            <a:pPr marL="342900" indent="-342900">
              <a:buSzPct val="100000"/>
              <a:buChar char="•"/>
            </a:pPr>
            <a:r>
              <a:rPr lang="en-US" sz="1200" dirty="0"/>
              <a:t>Made the PowerPoint presentation and explained the project in a simple and clear way slide by slide</a:t>
            </a:r>
            <a:endParaRPr lang="en-US" sz="1150" dirty="0"/>
          </a:p>
        </p:txBody>
      </p:sp>
      <p:sp>
        <p:nvSpPr>
          <p:cNvPr id="26" name="Text 24"/>
          <p:cNvSpPr/>
          <p:nvPr/>
        </p:nvSpPr>
        <p:spPr>
          <a:xfrm>
            <a:off x="2331720" y="4023360"/>
            <a:ext cx="6537960" cy="292608"/>
          </a:xfrm>
          <a:prstGeom prst="rect">
            <a:avLst/>
          </a:prstGeom>
          <a:noFill/>
          <a:ln/>
        </p:spPr>
        <p:txBody>
          <a:bodyPr wrap="square" lIns="0" tIns="0" rIns="0" bIns="0" rtlCol="0" anchor="ctr"/>
          <a:lstStyle/>
          <a:p>
            <a:pPr marL="342900" indent="-342900">
              <a:buSzPct val="100000"/>
              <a:buChar char="•"/>
            </a:pPr>
            <a:r>
              <a:rPr lang="en-US" sz="1200" dirty="0"/>
              <a:t>Went through the code and picked out the important parts to explain how the model actually works</a:t>
            </a:r>
            <a:endParaRPr lang="en-US" sz="1150" dirty="0"/>
          </a:p>
        </p:txBody>
      </p:sp>
      <p:sp>
        <p:nvSpPr>
          <p:cNvPr id="27" name="Text 25"/>
          <p:cNvSpPr/>
          <p:nvPr/>
        </p:nvSpPr>
        <p:spPr>
          <a:xfrm>
            <a:off x="2331720" y="4224528"/>
            <a:ext cx="6355080" cy="431292"/>
          </a:xfrm>
          <a:prstGeom prst="rect">
            <a:avLst/>
          </a:prstGeom>
          <a:noFill/>
          <a:ln/>
        </p:spPr>
        <p:txBody>
          <a:bodyPr wrap="square" lIns="0" tIns="0" rIns="0" bIns="0" rtlCol="0" anchor="ctr"/>
          <a:lstStyle/>
          <a:p>
            <a:pPr marL="342900" indent="-342900">
              <a:buSzPct val="100000"/>
              <a:buChar char="•"/>
            </a:pPr>
            <a:r>
              <a:rPr lang="en-US" sz="1200" dirty="0"/>
              <a:t>Drew flowcharts and diagrams to show how the system works step by step</a:t>
            </a:r>
            <a:endParaRPr lang="en-US" sz="1150" dirty="0"/>
          </a:p>
        </p:txBody>
      </p:sp>
      <p:sp>
        <p:nvSpPr>
          <p:cNvPr id="28" name="Text 26"/>
          <p:cNvSpPr/>
          <p:nvPr/>
        </p:nvSpPr>
        <p:spPr>
          <a:xfrm>
            <a:off x="2331720" y="4572000"/>
            <a:ext cx="6355080" cy="426720"/>
          </a:xfrm>
          <a:prstGeom prst="rect">
            <a:avLst/>
          </a:prstGeom>
          <a:noFill/>
          <a:ln/>
        </p:spPr>
        <p:txBody>
          <a:bodyPr wrap="square" lIns="0" tIns="0" rIns="0" bIns="0" rtlCol="0" anchor="ctr"/>
          <a:lstStyle/>
          <a:p>
            <a:pPr marL="342900" indent="-342900">
              <a:buSzPct val="100000"/>
              <a:buChar char="•"/>
            </a:pPr>
            <a:r>
              <a:rPr lang="en-US" sz="1200" dirty="0"/>
              <a:t>Helped in writing the summary of results and key points in simple language for better understanding</a:t>
            </a:r>
            <a:endParaRPr lang="en-US" sz="1150" dirty="0"/>
          </a:p>
        </p:txBody>
      </p:sp>
      <p:sp>
        <p:nvSpPr>
          <p:cNvPr id="29" name="Rectangle 1">
            <a:extLst>
              <a:ext uri="{FF2B5EF4-FFF2-40B4-BE49-F238E27FC236}">
                <a16:creationId xmlns:a16="http://schemas.microsoft.com/office/drawing/2014/main" id="{8DA91A2D-70C2-0185-B3A8-C26486CD3787}"/>
              </a:ext>
            </a:extLst>
          </p:cNvPr>
          <p:cNvSpPr>
            <a:spLocks noChangeArrowheads="1"/>
          </p:cNvSpPr>
          <p:nvPr/>
        </p:nvSpPr>
        <p:spPr bwMode="auto">
          <a:xfrm>
            <a:off x="0" y="-32316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Problem Statement</a:t>
            </a:r>
            <a:endParaRPr lang="en-US" sz="2700" dirty="0"/>
          </a:p>
        </p:txBody>
      </p:sp>
      <p:sp>
        <p:nvSpPr>
          <p:cNvPr id="5" name="Text 3"/>
          <p:cNvSpPr/>
          <p:nvPr/>
        </p:nvSpPr>
        <p:spPr>
          <a:xfrm>
            <a:off x="320040" y="1115568"/>
            <a:ext cx="8503920" cy="502920"/>
          </a:xfrm>
          <a:prstGeom prst="rect">
            <a:avLst/>
          </a:prstGeom>
          <a:noFill/>
          <a:ln/>
        </p:spPr>
        <p:txBody>
          <a:bodyPr wrap="square" lIns="0" tIns="0" rIns="0" bIns="0" rtlCol="0" anchor="ctr"/>
          <a:lstStyle/>
          <a:p>
            <a:pPr marL="0" indent="0" algn="l">
              <a:buNone/>
            </a:pPr>
            <a:r>
              <a:rPr lang="en-US" sz="1400" i="1" dirty="0">
                <a:solidFill>
                  <a:srgbClr val="1A7A9A"/>
                </a:solidFill>
                <a:latin typeface="Calibri" pitchFamily="34" charset="0"/>
                <a:ea typeface="Calibri" pitchFamily="34" charset="-122"/>
                <a:cs typeface="Calibri" pitchFamily="34" charset="-120"/>
              </a:rPr>
              <a:t>Millions face preventable blindness each year — not because cures are absent, but because diseases go undetected until it's too late.</a:t>
            </a:r>
            <a:endParaRPr lang="en-US" sz="1400" dirty="0"/>
          </a:p>
        </p:txBody>
      </p:sp>
      <p:sp>
        <p:nvSpPr>
          <p:cNvPr id="6" name="Shape 4"/>
          <p:cNvSpPr/>
          <p:nvPr/>
        </p:nvSpPr>
        <p:spPr>
          <a:xfrm>
            <a:off x="256032" y="1737360"/>
            <a:ext cx="2743200" cy="21488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7" name="Shape 5"/>
          <p:cNvSpPr/>
          <p:nvPr/>
        </p:nvSpPr>
        <p:spPr>
          <a:xfrm>
            <a:off x="256032" y="1737360"/>
            <a:ext cx="2743200" cy="438912"/>
          </a:xfrm>
          <a:prstGeom prst="rect">
            <a:avLst/>
          </a:prstGeom>
          <a:solidFill>
            <a:srgbClr val="0B2545"/>
          </a:solidFill>
          <a:ln/>
        </p:spPr>
        <p:txBody>
          <a:bodyPr/>
          <a:lstStyle/>
          <a:p>
            <a:endParaRPr lang="en-US"/>
          </a:p>
        </p:txBody>
      </p:sp>
      <p:sp>
        <p:nvSpPr>
          <p:cNvPr id="8" name="Text 6"/>
          <p:cNvSpPr/>
          <p:nvPr/>
        </p:nvSpPr>
        <p:spPr>
          <a:xfrm>
            <a:off x="329184" y="1737360"/>
            <a:ext cx="2596896" cy="438912"/>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Diabetic Retinopathy</a:t>
            </a:r>
            <a:endParaRPr lang="en-US" sz="1300" dirty="0"/>
          </a:p>
        </p:txBody>
      </p:sp>
      <p:sp>
        <p:nvSpPr>
          <p:cNvPr id="9" name="Text 7"/>
          <p:cNvSpPr/>
          <p:nvPr/>
        </p:nvSpPr>
        <p:spPr>
          <a:xfrm>
            <a:off x="347472" y="2221992"/>
            <a:ext cx="2560320" cy="1600200"/>
          </a:xfrm>
          <a:prstGeom prst="rect">
            <a:avLst/>
          </a:prstGeom>
          <a:noFill/>
          <a:ln/>
        </p:spPr>
        <p:txBody>
          <a:bodyPr wrap="square" lIns="50800" tIns="50800" rIns="50800" bIns="5080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Elevated blood sugar slowly damages retinal blood vessels, causing them to leak or swell. In advanced cases this leads to total vision loss, yet the disease has no pain — patients often don't know until it's too late.</a:t>
            </a:r>
            <a:endParaRPr lang="en-US" sz="1150" dirty="0"/>
          </a:p>
        </p:txBody>
      </p:sp>
      <p:sp>
        <p:nvSpPr>
          <p:cNvPr id="10" name="Shape 8"/>
          <p:cNvSpPr/>
          <p:nvPr/>
        </p:nvSpPr>
        <p:spPr>
          <a:xfrm>
            <a:off x="3163824" y="1737360"/>
            <a:ext cx="2743200" cy="21488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1" name="Shape 9"/>
          <p:cNvSpPr/>
          <p:nvPr/>
        </p:nvSpPr>
        <p:spPr>
          <a:xfrm>
            <a:off x="3163824" y="1737360"/>
            <a:ext cx="2743200" cy="438912"/>
          </a:xfrm>
          <a:prstGeom prst="rect">
            <a:avLst/>
          </a:prstGeom>
          <a:solidFill>
            <a:srgbClr val="1A7A9A"/>
          </a:solidFill>
          <a:ln/>
        </p:spPr>
        <p:txBody>
          <a:bodyPr/>
          <a:lstStyle/>
          <a:p>
            <a:endParaRPr lang="en-US"/>
          </a:p>
        </p:txBody>
      </p:sp>
      <p:sp>
        <p:nvSpPr>
          <p:cNvPr id="12" name="Text 10"/>
          <p:cNvSpPr/>
          <p:nvPr/>
        </p:nvSpPr>
        <p:spPr>
          <a:xfrm>
            <a:off x="3236976" y="1737360"/>
            <a:ext cx="2596896" cy="438912"/>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Glaucoma</a:t>
            </a:r>
            <a:endParaRPr lang="en-US" sz="1300" dirty="0"/>
          </a:p>
        </p:txBody>
      </p:sp>
      <p:sp>
        <p:nvSpPr>
          <p:cNvPr id="13" name="Text 11"/>
          <p:cNvSpPr/>
          <p:nvPr/>
        </p:nvSpPr>
        <p:spPr>
          <a:xfrm>
            <a:off x="3255264" y="2221992"/>
            <a:ext cx="2560320" cy="1600200"/>
          </a:xfrm>
          <a:prstGeom prst="rect">
            <a:avLst/>
          </a:prstGeom>
          <a:noFill/>
          <a:ln/>
        </p:spPr>
        <p:txBody>
          <a:bodyPr wrap="square" lIns="50800" tIns="50800" rIns="50800" bIns="5080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Rising intraocular pressure silently destroys the optic nerve fiber by fiber. By the time a patient notices peripheral vision shrinking, a large portion of nerve cells is already gone — permanently.</a:t>
            </a:r>
            <a:endParaRPr lang="en-US" sz="1150" dirty="0"/>
          </a:p>
        </p:txBody>
      </p:sp>
      <p:sp>
        <p:nvSpPr>
          <p:cNvPr id="14" name="Shape 12"/>
          <p:cNvSpPr/>
          <p:nvPr/>
        </p:nvSpPr>
        <p:spPr>
          <a:xfrm>
            <a:off x="6071616" y="1737360"/>
            <a:ext cx="2743200" cy="21488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5" name="Shape 13"/>
          <p:cNvSpPr/>
          <p:nvPr/>
        </p:nvSpPr>
        <p:spPr>
          <a:xfrm>
            <a:off x="6071616" y="1737360"/>
            <a:ext cx="2743200" cy="438912"/>
          </a:xfrm>
          <a:prstGeom prst="rect">
            <a:avLst/>
          </a:prstGeom>
          <a:solidFill>
            <a:srgbClr val="1A8C5B"/>
          </a:solidFill>
          <a:ln/>
        </p:spPr>
        <p:txBody>
          <a:bodyPr/>
          <a:lstStyle/>
          <a:p>
            <a:endParaRPr lang="en-US"/>
          </a:p>
        </p:txBody>
      </p:sp>
      <p:sp>
        <p:nvSpPr>
          <p:cNvPr id="16" name="Text 14"/>
          <p:cNvSpPr/>
          <p:nvPr/>
        </p:nvSpPr>
        <p:spPr>
          <a:xfrm>
            <a:off x="6144768" y="1737360"/>
            <a:ext cx="2596896" cy="438912"/>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Cataract</a:t>
            </a:r>
            <a:endParaRPr lang="en-US" sz="1300" dirty="0"/>
          </a:p>
        </p:txBody>
      </p:sp>
      <p:sp>
        <p:nvSpPr>
          <p:cNvPr id="17" name="Text 15"/>
          <p:cNvSpPr/>
          <p:nvPr/>
        </p:nvSpPr>
        <p:spPr>
          <a:xfrm>
            <a:off x="6163056" y="2221992"/>
            <a:ext cx="2560320" cy="1600200"/>
          </a:xfrm>
          <a:prstGeom prst="rect">
            <a:avLst/>
          </a:prstGeom>
          <a:noFill/>
          <a:ln/>
        </p:spPr>
        <p:txBody>
          <a:bodyPr wrap="square" lIns="50800" tIns="50800" rIns="50800" bIns="5080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Progressive clouding of the lens gradually dims vision, making everyday tasks harder. It is the leading cause of reversible blindness globally, yet millions go untreated due to lack of screening access.</a:t>
            </a:r>
            <a:endParaRPr lang="en-US" sz="1150" dirty="0"/>
          </a:p>
        </p:txBody>
      </p:sp>
      <p:sp>
        <p:nvSpPr>
          <p:cNvPr id="18" name="Shape 16"/>
          <p:cNvSpPr/>
          <p:nvPr/>
        </p:nvSpPr>
        <p:spPr>
          <a:xfrm>
            <a:off x="256032" y="3995928"/>
            <a:ext cx="8613648" cy="841248"/>
          </a:xfrm>
          <a:prstGeom prst="rect">
            <a:avLst/>
          </a:prstGeom>
          <a:solidFill>
            <a:srgbClr val="FFF8E1"/>
          </a:solidFill>
          <a:ln w="15240">
            <a:solidFill>
              <a:srgbClr val="D97706"/>
            </a:solidFill>
            <a:prstDash val="solid"/>
          </a:ln>
          <a:effectLst>
            <a:outerShdw blurRad="88900" dist="38100" dir="8100000" algn="bl" rotWithShape="0">
              <a:srgbClr val="000000">
                <a:alpha val="13000"/>
              </a:srgbClr>
            </a:outerShdw>
          </a:effectLst>
        </p:spPr>
        <p:txBody>
          <a:bodyPr/>
          <a:lstStyle/>
          <a:p>
            <a:endParaRPr lang="en-US"/>
          </a:p>
        </p:txBody>
      </p:sp>
      <p:sp>
        <p:nvSpPr>
          <p:cNvPr id="19" name="Text 17"/>
          <p:cNvSpPr/>
          <p:nvPr/>
        </p:nvSpPr>
        <p:spPr>
          <a:xfrm>
            <a:off x="384048" y="4041648"/>
            <a:ext cx="1737360" cy="320040"/>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Core Challenges:</a:t>
            </a:r>
            <a:endParaRPr lang="en-US" sz="1200" dirty="0"/>
          </a:p>
        </p:txBody>
      </p:sp>
      <p:sp>
        <p:nvSpPr>
          <p:cNvPr id="20" name="Text 18"/>
          <p:cNvSpPr/>
          <p:nvPr/>
        </p:nvSpPr>
        <p:spPr>
          <a:xfrm>
            <a:off x="2121408" y="4041648"/>
            <a:ext cx="6656832" cy="71323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Manual screening is slow &amp; specialist-dependent   •   Subtle lesions missed under fatigue   •   Rural areas lack trained ophthalmologists   •   No single system combines detection + severity + live deployment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Literature Survey</a:t>
            </a:r>
            <a:endParaRPr lang="en-US" sz="2700" dirty="0"/>
          </a:p>
        </p:txBody>
      </p:sp>
      <p:sp>
        <p:nvSpPr>
          <p:cNvPr id="5" name="Text 3"/>
          <p:cNvSpPr/>
          <p:nvPr/>
        </p:nvSpPr>
        <p:spPr>
          <a:xfrm>
            <a:off x="320040" y="640080"/>
            <a:ext cx="8503920" cy="347472"/>
          </a:xfrm>
          <a:prstGeom prst="rect">
            <a:avLst/>
          </a:prstGeom>
          <a:noFill/>
          <a:ln/>
        </p:spPr>
        <p:txBody>
          <a:bodyPr wrap="square" lIns="0" tIns="0" rIns="0" bIns="0" rtlCol="0" anchor="ctr"/>
          <a:lstStyle/>
          <a:p>
            <a:pPr marL="0" indent="0" algn="l">
              <a:buNone/>
            </a:pPr>
            <a:r>
              <a:rPr lang="en-US" sz="1250" i="1" dirty="0">
                <a:solidFill>
                  <a:srgbClr val="2EC4B6"/>
                </a:solidFill>
                <a:latin typeface="Calibri" pitchFamily="34" charset="0"/>
                <a:ea typeface="Calibri" pitchFamily="34" charset="-122"/>
                <a:cs typeface="Calibri" pitchFamily="34" charset="-120"/>
              </a:rPr>
              <a:t>Key findings from research published between 2021 and 2025</a:t>
            </a:r>
            <a:endParaRPr lang="en-US" sz="1250" dirty="0"/>
          </a:p>
        </p:txBody>
      </p:sp>
      <p:sp>
        <p:nvSpPr>
          <p:cNvPr id="6" name="Shape 4"/>
          <p:cNvSpPr/>
          <p:nvPr/>
        </p:nvSpPr>
        <p:spPr>
          <a:xfrm>
            <a:off x="274320" y="1143000"/>
            <a:ext cx="8595360" cy="82296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7" name="Shape 5"/>
          <p:cNvSpPr/>
          <p:nvPr/>
        </p:nvSpPr>
        <p:spPr>
          <a:xfrm>
            <a:off x="274320" y="1143000"/>
            <a:ext cx="1234440" cy="822960"/>
          </a:xfrm>
          <a:prstGeom prst="rect">
            <a:avLst/>
          </a:prstGeom>
          <a:solidFill>
            <a:srgbClr val="0B2545"/>
          </a:solidFill>
          <a:ln/>
        </p:spPr>
        <p:txBody>
          <a:bodyPr/>
          <a:lstStyle/>
          <a:p>
            <a:endParaRPr lang="en-US"/>
          </a:p>
        </p:txBody>
      </p:sp>
      <p:sp>
        <p:nvSpPr>
          <p:cNvPr id="8" name="Text 6"/>
          <p:cNvSpPr/>
          <p:nvPr/>
        </p:nvSpPr>
        <p:spPr>
          <a:xfrm>
            <a:off x="274320" y="1280160"/>
            <a:ext cx="1234440" cy="548640"/>
          </a:xfrm>
          <a:prstGeom prst="rect">
            <a:avLst/>
          </a:prstGeom>
          <a:noFill/>
          <a:ln/>
        </p:spPr>
        <p:txBody>
          <a:bodyPr wrap="square" lIns="0" tIns="0" rIns="0" bIns="0" rtlCol="0" anchor="ctr"/>
          <a:lstStyle/>
          <a:p>
            <a:pPr marL="0" indent="0" algn="ctr">
              <a:buNone/>
            </a:pPr>
            <a:r>
              <a:rPr lang="en-US" sz="1300" b="1" dirty="0">
                <a:solidFill>
                  <a:srgbClr val="2EC4B6"/>
                </a:solidFill>
                <a:latin typeface="Calibri" pitchFamily="34" charset="0"/>
                <a:ea typeface="Calibri" pitchFamily="34" charset="-122"/>
                <a:cs typeface="Calibri" pitchFamily="34" charset="-120"/>
              </a:rPr>
              <a:t>2021–22</a:t>
            </a:r>
            <a:endParaRPr lang="en-US" sz="1300" dirty="0"/>
          </a:p>
        </p:txBody>
      </p:sp>
      <p:sp>
        <p:nvSpPr>
          <p:cNvPr id="9" name="Text 7"/>
          <p:cNvSpPr/>
          <p:nvPr/>
        </p:nvSpPr>
        <p:spPr>
          <a:xfrm>
            <a:off x="1600200" y="1234440"/>
            <a:ext cx="7150608" cy="658368"/>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CNNs consistently outperform classical image-processing on fundus classification; EfficientNet and ResNet emerge as top architectures for ophthalmic AI tasks.</a:t>
            </a:r>
            <a:endParaRPr lang="en-US" sz="1250" dirty="0"/>
          </a:p>
        </p:txBody>
      </p:sp>
      <p:sp>
        <p:nvSpPr>
          <p:cNvPr id="10" name="Shape 8"/>
          <p:cNvSpPr/>
          <p:nvPr/>
        </p:nvSpPr>
        <p:spPr>
          <a:xfrm>
            <a:off x="274320" y="2075688"/>
            <a:ext cx="8595360" cy="82296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1" name="Shape 9"/>
          <p:cNvSpPr/>
          <p:nvPr/>
        </p:nvSpPr>
        <p:spPr>
          <a:xfrm>
            <a:off x="274320" y="2075688"/>
            <a:ext cx="1234440" cy="822960"/>
          </a:xfrm>
          <a:prstGeom prst="rect">
            <a:avLst/>
          </a:prstGeom>
          <a:solidFill>
            <a:srgbClr val="0B2545"/>
          </a:solidFill>
          <a:ln/>
        </p:spPr>
        <p:txBody>
          <a:bodyPr/>
          <a:lstStyle/>
          <a:p>
            <a:endParaRPr lang="en-US"/>
          </a:p>
        </p:txBody>
      </p:sp>
      <p:sp>
        <p:nvSpPr>
          <p:cNvPr id="12" name="Text 10"/>
          <p:cNvSpPr/>
          <p:nvPr/>
        </p:nvSpPr>
        <p:spPr>
          <a:xfrm>
            <a:off x="274320" y="2212848"/>
            <a:ext cx="1234440" cy="548640"/>
          </a:xfrm>
          <a:prstGeom prst="rect">
            <a:avLst/>
          </a:prstGeom>
          <a:noFill/>
          <a:ln/>
        </p:spPr>
        <p:txBody>
          <a:bodyPr wrap="square" lIns="0" tIns="0" rIns="0" bIns="0" rtlCol="0" anchor="ctr"/>
          <a:lstStyle/>
          <a:p>
            <a:pPr marL="0" indent="0" algn="ctr">
              <a:buNone/>
            </a:pPr>
            <a:r>
              <a:rPr lang="en-US" sz="1300" b="1" dirty="0">
                <a:solidFill>
                  <a:srgbClr val="2EC4B6"/>
                </a:solidFill>
                <a:latin typeface="Calibri" pitchFamily="34" charset="0"/>
                <a:ea typeface="Calibri" pitchFamily="34" charset="-122"/>
                <a:cs typeface="Calibri" pitchFamily="34" charset="-120"/>
              </a:rPr>
              <a:t>2022–23</a:t>
            </a:r>
            <a:endParaRPr lang="en-US" sz="1300" dirty="0"/>
          </a:p>
        </p:txBody>
      </p:sp>
      <p:sp>
        <p:nvSpPr>
          <p:cNvPr id="13" name="Text 11"/>
          <p:cNvSpPr/>
          <p:nvPr/>
        </p:nvSpPr>
        <p:spPr>
          <a:xfrm>
            <a:off x="1600200" y="2167128"/>
            <a:ext cx="7150608" cy="658368"/>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Transfer learning proves highly effective — models pre-trained on ImageNet converge faster and generalize better even when labeled medical data is scarce.</a:t>
            </a:r>
            <a:endParaRPr lang="en-US" sz="1250" dirty="0"/>
          </a:p>
        </p:txBody>
      </p:sp>
      <p:sp>
        <p:nvSpPr>
          <p:cNvPr id="14" name="Shape 12"/>
          <p:cNvSpPr/>
          <p:nvPr/>
        </p:nvSpPr>
        <p:spPr>
          <a:xfrm>
            <a:off x="274320" y="3008376"/>
            <a:ext cx="8595360" cy="82296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5" name="Shape 13"/>
          <p:cNvSpPr/>
          <p:nvPr/>
        </p:nvSpPr>
        <p:spPr>
          <a:xfrm>
            <a:off x="274320" y="3008376"/>
            <a:ext cx="1234440" cy="822960"/>
          </a:xfrm>
          <a:prstGeom prst="rect">
            <a:avLst/>
          </a:prstGeom>
          <a:solidFill>
            <a:srgbClr val="0B2545"/>
          </a:solidFill>
          <a:ln/>
        </p:spPr>
        <p:txBody>
          <a:bodyPr/>
          <a:lstStyle/>
          <a:p>
            <a:endParaRPr lang="en-US"/>
          </a:p>
        </p:txBody>
      </p:sp>
      <p:sp>
        <p:nvSpPr>
          <p:cNvPr id="16" name="Text 14"/>
          <p:cNvSpPr/>
          <p:nvPr/>
        </p:nvSpPr>
        <p:spPr>
          <a:xfrm>
            <a:off x="274320" y="3145536"/>
            <a:ext cx="1234440" cy="548640"/>
          </a:xfrm>
          <a:prstGeom prst="rect">
            <a:avLst/>
          </a:prstGeom>
          <a:noFill/>
          <a:ln/>
        </p:spPr>
        <p:txBody>
          <a:bodyPr wrap="square" lIns="0" tIns="0" rIns="0" bIns="0" rtlCol="0" anchor="ctr"/>
          <a:lstStyle/>
          <a:p>
            <a:pPr marL="0" indent="0" algn="ctr">
              <a:buNone/>
            </a:pPr>
            <a:r>
              <a:rPr lang="en-US" sz="1300" b="1" dirty="0">
                <a:solidFill>
                  <a:srgbClr val="2EC4B6"/>
                </a:solidFill>
                <a:latin typeface="Calibri" pitchFamily="34" charset="0"/>
                <a:ea typeface="Calibri" pitchFamily="34" charset="-122"/>
                <a:cs typeface="Calibri" pitchFamily="34" charset="-120"/>
              </a:rPr>
              <a:t>2023–24</a:t>
            </a:r>
            <a:endParaRPr lang="en-US" sz="1300" dirty="0"/>
          </a:p>
        </p:txBody>
      </p:sp>
      <p:sp>
        <p:nvSpPr>
          <p:cNvPr id="17" name="Text 15"/>
          <p:cNvSpPr/>
          <p:nvPr/>
        </p:nvSpPr>
        <p:spPr>
          <a:xfrm>
            <a:off x="1600200" y="3099816"/>
            <a:ext cx="7150608" cy="658368"/>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Multi-task learning frameworks that combine classification with regression (severity scoring) produce richer, more clinically useful outputs from a single pass.</a:t>
            </a:r>
            <a:endParaRPr lang="en-US" sz="1250" dirty="0"/>
          </a:p>
        </p:txBody>
      </p:sp>
      <p:sp>
        <p:nvSpPr>
          <p:cNvPr id="18" name="Shape 16"/>
          <p:cNvSpPr/>
          <p:nvPr/>
        </p:nvSpPr>
        <p:spPr>
          <a:xfrm>
            <a:off x="274320" y="3941064"/>
            <a:ext cx="8595360" cy="82296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9" name="Shape 17"/>
          <p:cNvSpPr/>
          <p:nvPr/>
        </p:nvSpPr>
        <p:spPr>
          <a:xfrm>
            <a:off x="274320" y="3941064"/>
            <a:ext cx="1234440" cy="822960"/>
          </a:xfrm>
          <a:prstGeom prst="rect">
            <a:avLst/>
          </a:prstGeom>
          <a:solidFill>
            <a:srgbClr val="0B2545"/>
          </a:solidFill>
          <a:ln/>
        </p:spPr>
        <p:txBody>
          <a:bodyPr/>
          <a:lstStyle/>
          <a:p>
            <a:endParaRPr lang="en-US"/>
          </a:p>
        </p:txBody>
      </p:sp>
      <p:sp>
        <p:nvSpPr>
          <p:cNvPr id="20" name="Text 18"/>
          <p:cNvSpPr/>
          <p:nvPr/>
        </p:nvSpPr>
        <p:spPr>
          <a:xfrm>
            <a:off x="274320" y="4078224"/>
            <a:ext cx="1234440" cy="548640"/>
          </a:xfrm>
          <a:prstGeom prst="rect">
            <a:avLst/>
          </a:prstGeom>
          <a:noFill/>
          <a:ln/>
        </p:spPr>
        <p:txBody>
          <a:bodyPr wrap="square" lIns="0" tIns="0" rIns="0" bIns="0" rtlCol="0" anchor="ctr"/>
          <a:lstStyle/>
          <a:p>
            <a:pPr marL="0" indent="0" algn="ctr">
              <a:buNone/>
            </a:pPr>
            <a:r>
              <a:rPr lang="en-US" sz="1300" b="1" dirty="0">
                <a:solidFill>
                  <a:srgbClr val="2EC4B6"/>
                </a:solidFill>
                <a:latin typeface="Calibri" pitchFamily="34" charset="0"/>
                <a:ea typeface="Calibri" pitchFamily="34" charset="-122"/>
                <a:cs typeface="Calibri" pitchFamily="34" charset="-120"/>
              </a:rPr>
              <a:t>2024–25</a:t>
            </a:r>
            <a:endParaRPr lang="en-US" sz="1300" dirty="0"/>
          </a:p>
        </p:txBody>
      </p:sp>
      <p:sp>
        <p:nvSpPr>
          <p:cNvPr id="21" name="Text 19"/>
          <p:cNvSpPr/>
          <p:nvPr/>
        </p:nvSpPr>
        <p:spPr>
          <a:xfrm>
            <a:off x="1600200" y="4032504"/>
            <a:ext cx="7150608" cy="658368"/>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Lightweight deployment tools (Streamlit, FastAPI) bridge the lab-to-clinic gap; however, very few systems integrate classification, severity estimation, AND live deployment together — the gap this project addresses.</a:t>
            </a:r>
            <a:endParaRPr lang="en-US" sz="1250" dirty="0"/>
          </a:p>
        </p:txBody>
      </p:sp>
      <p:sp>
        <p:nvSpPr>
          <p:cNvPr id="22" name="Text 20"/>
          <p:cNvSpPr/>
          <p:nvPr/>
        </p:nvSpPr>
        <p:spPr>
          <a:xfrm>
            <a:off x="274320" y="4892040"/>
            <a:ext cx="3657600" cy="45719"/>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Research Gap Addressed by This Project:</a:t>
            </a:r>
            <a:endParaRPr lang="en-US" sz="1200" dirty="0"/>
          </a:p>
        </p:txBody>
      </p:sp>
      <p:sp>
        <p:nvSpPr>
          <p:cNvPr id="23" name="Text 21"/>
          <p:cNvSpPr/>
          <p:nvPr/>
        </p:nvSpPr>
        <p:spPr>
          <a:xfrm>
            <a:off x="2988000" y="4892040"/>
            <a:ext cx="5881680" cy="1119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No existing study combines multi-output learning (classification + regression) with an interactive real-time Streamlit interface in a single deployable system.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Dataset Details</a:t>
            </a:r>
            <a:endParaRPr lang="en-US" sz="2700" dirty="0"/>
          </a:p>
        </p:txBody>
      </p:sp>
      <p:sp>
        <p:nvSpPr>
          <p:cNvPr id="5" name="Shape 3"/>
          <p:cNvSpPr/>
          <p:nvPr/>
        </p:nvSpPr>
        <p:spPr>
          <a:xfrm>
            <a:off x="274320" y="1115568"/>
            <a:ext cx="4206240" cy="365760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74320" y="1115568"/>
            <a:ext cx="4206240" cy="411480"/>
          </a:xfrm>
          <a:prstGeom prst="rect">
            <a:avLst/>
          </a:prstGeom>
          <a:solidFill>
            <a:srgbClr val="0B2545"/>
          </a:solidFill>
          <a:ln/>
        </p:spPr>
        <p:txBody>
          <a:bodyPr/>
          <a:lstStyle/>
          <a:p>
            <a:endParaRPr lang="en-US"/>
          </a:p>
        </p:txBody>
      </p:sp>
      <p:sp>
        <p:nvSpPr>
          <p:cNvPr id="7" name="Text 5"/>
          <p:cNvSpPr/>
          <p:nvPr/>
        </p:nvSpPr>
        <p:spPr>
          <a:xfrm>
            <a:off x="320040" y="1115568"/>
            <a:ext cx="4114800" cy="411480"/>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About the Dataset</a:t>
            </a:r>
            <a:endParaRPr lang="en-US" sz="1400" dirty="0"/>
          </a:p>
        </p:txBody>
      </p:sp>
      <p:sp>
        <p:nvSpPr>
          <p:cNvPr id="8" name="Text 6"/>
          <p:cNvSpPr/>
          <p:nvPr/>
        </p:nvSpPr>
        <p:spPr>
          <a:xfrm>
            <a:off x="411480" y="1627632"/>
            <a:ext cx="3931920" cy="493776"/>
          </a:xfrm>
          <a:prstGeom prst="rect">
            <a:avLst/>
          </a:prstGeom>
          <a:noFill/>
          <a:ln/>
        </p:spPr>
        <p:txBody>
          <a:bodyPr wrap="square" lIns="25400" tIns="25400" rIns="25400" bIns="25400" rtlCol="0" anchor="ctr"/>
          <a:lstStyle/>
          <a:p>
            <a:pPr marL="342900" indent="-342900">
              <a:buSzPct val="100000"/>
              <a:buChar char="•"/>
            </a:pPr>
            <a:r>
              <a:rPr lang="en-US" sz="1200" dirty="0">
                <a:solidFill>
                  <a:srgbClr val="1A202C"/>
                </a:solidFill>
                <a:latin typeface="Calibri" pitchFamily="34" charset="0"/>
                <a:ea typeface="Calibri" pitchFamily="34" charset="-122"/>
                <a:cs typeface="Calibri" pitchFamily="34" charset="-120"/>
              </a:rPr>
              <a:t>High-resolution retinal fundus photographs captured in a controlled clinical environment using fundus cameras.</a:t>
            </a:r>
            <a:endParaRPr lang="en-US" sz="1200" dirty="0"/>
          </a:p>
        </p:txBody>
      </p:sp>
      <p:sp>
        <p:nvSpPr>
          <p:cNvPr id="9" name="Text 7"/>
          <p:cNvSpPr/>
          <p:nvPr/>
        </p:nvSpPr>
        <p:spPr>
          <a:xfrm>
            <a:off x="411480" y="2148840"/>
            <a:ext cx="3931920" cy="493776"/>
          </a:xfrm>
          <a:prstGeom prst="rect">
            <a:avLst/>
          </a:prstGeom>
          <a:noFill/>
          <a:ln/>
        </p:spPr>
        <p:txBody>
          <a:bodyPr wrap="square" lIns="25400" tIns="25400" rIns="25400" bIns="25400" rtlCol="0" anchor="ctr"/>
          <a:lstStyle/>
          <a:p>
            <a:pPr marL="342900" indent="-342900">
              <a:buSzPct val="100000"/>
              <a:buChar char="•"/>
            </a:pPr>
            <a:r>
              <a:rPr lang="en-US" sz="1200" dirty="0">
                <a:solidFill>
                  <a:srgbClr val="1A202C"/>
                </a:solidFill>
                <a:latin typeface="Calibri" pitchFamily="34" charset="0"/>
                <a:ea typeface="Calibri" pitchFamily="34" charset="-122"/>
                <a:cs typeface="Calibri" pitchFamily="34" charset="-120"/>
              </a:rPr>
              <a:t>Each image displays key anatomical structures: the optic disc, macula, blood vessels, and surrounding retinal tissue.</a:t>
            </a:r>
            <a:endParaRPr lang="en-US" sz="1200" dirty="0"/>
          </a:p>
        </p:txBody>
      </p:sp>
      <p:sp>
        <p:nvSpPr>
          <p:cNvPr id="10" name="Text 8"/>
          <p:cNvSpPr/>
          <p:nvPr/>
        </p:nvSpPr>
        <p:spPr>
          <a:xfrm>
            <a:off x="411480" y="2670048"/>
            <a:ext cx="3931920" cy="493776"/>
          </a:xfrm>
          <a:prstGeom prst="rect">
            <a:avLst/>
          </a:prstGeom>
          <a:noFill/>
          <a:ln/>
        </p:spPr>
        <p:txBody>
          <a:bodyPr wrap="square" lIns="25400" tIns="25400" rIns="25400" bIns="25400" rtlCol="0" anchor="ctr"/>
          <a:lstStyle/>
          <a:p>
            <a:pPr marL="342900" indent="-342900">
              <a:buSzPct val="100000"/>
              <a:buChar char="•"/>
            </a:pPr>
            <a:r>
              <a:rPr lang="en-US" sz="1200" dirty="0">
                <a:solidFill>
                  <a:srgbClr val="1A202C"/>
                </a:solidFill>
                <a:latin typeface="Calibri" pitchFamily="34" charset="0"/>
                <a:ea typeface="Calibri" pitchFamily="34" charset="-122"/>
                <a:cs typeface="Calibri" pitchFamily="34" charset="-120"/>
              </a:rPr>
              <a:t>Four labeled classes: Cataract, Diabetic Retinopathy, Glaucoma, and Normal.</a:t>
            </a:r>
            <a:endParaRPr lang="en-US" sz="1200" dirty="0"/>
          </a:p>
        </p:txBody>
      </p:sp>
      <p:sp>
        <p:nvSpPr>
          <p:cNvPr id="11" name="Text 9"/>
          <p:cNvSpPr/>
          <p:nvPr/>
        </p:nvSpPr>
        <p:spPr>
          <a:xfrm>
            <a:off x="411480" y="3191256"/>
            <a:ext cx="3931920" cy="493776"/>
          </a:xfrm>
          <a:prstGeom prst="rect">
            <a:avLst/>
          </a:prstGeom>
          <a:noFill/>
          <a:ln/>
        </p:spPr>
        <p:txBody>
          <a:bodyPr wrap="square" lIns="25400" tIns="25400" rIns="25400" bIns="25400" rtlCol="0" anchor="ctr"/>
          <a:lstStyle/>
          <a:p>
            <a:pPr marL="342900" indent="-342900">
              <a:buSzPct val="100000"/>
              <a:buChar char="•"/>
            </a:pPr>
            <a:r>
              <a:rPr lang="en-US" sz="1200" dirty="0">
                <a:solidFill>
                  <a:srgbClr val="1A202C"/>
                </a:solidFill>
                <a:latin typeface="Calibri" pitchFamily="34" charset="0"/>
                <a:ea typeface="Calibri" pitchFamily="34" charset="-122"/>
                <a:cs typeface="Calibri" pitchFamily="34" charset="-120"/>
              </a:rPr>
              <a:t>Includes both categorical class labels AND continuous severity metadata — enabling multi-output supervised learning.</a:t>
            </a:r>
            <a:endParaRPr lang="en-US" sz="1200" dirty="0"/>
          </a:p>
        </p:txBody>
      </p:sp>
      <p:sp>
        <p:nvSpPr>
          <p:cNvPr id="12" name="Text 10"/>
          <p:cNvSpPr/>
          <p:nvPr/>
        </p:nvSpPr>
        <p:spPr>
          <a:xfrm>
            <a:off x="411480" y="3712464"/>
            <a:ext cx="3931920" cy="493776"/>
          </a:xfrm>
          <a:prstGeom prst="rect">
            <a:avLst/>
          </a:prstGeom>
          <a:noFill/>
          <a:ln/>
        </p:spPr>
        <p:txBody>
          <a:bodyPr wrap="square" lIns="25400" tIns="25400" rIns="25400" bIns="25400" rtlCol="0" anchor="ctr"/>
          <a:lstStyle/>
          <a:p>
            <a:pPr marL="342900" indent="-342900">
              <a:buSzPct val="100000"/>
              <a:buChar char="•"/>
            </a:pPr>
            <a:r>
              <a:rPr lang="en-US" sz="1200" dirty="0">
                <a:solidFill>
                  <a:srgbClr val="1A202C"/>
                </a:solidFill>
                <a:latin typeface="Calibri" pitchFamily="34" charset="0"/>
                <a:ea typeface="Calibri" pitchFamily="34" charset="-122"/>
                <a:cs typeface="Calibri" pitchFamily="34" charset="-120"/>
              </a:rPr>
              <a:t>Images standardized to 224 × 224 pixels, RGB format, with pixel values normalized to [0, 1].</a:t>
            </a:r>
            <a:endParaRPr lang="en-US" sz="1200" dirty="0"/>
          </a:p>
        </p:txBody>
      </p:sp>
      <p:sp>
        <p:nvSpPr>
          <p:cNvPr id="13" name="Shape 11"/>
          <p:cNvSpPr/>
          <p:nvPr/>
        </p:nvSpPr>
        <p:spPr>
          <a:xfrm>
            <a:off x="4709160" y="1115568"/>
            <a:ext cx="4160520" cy="16916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4709160" y="1115568"/>
            <a:ext cx="4160520" cy="411480"/>
          </a:xfrm>
          <a:prstGeom prst="rect">
            <a:avLst/>
          </a:prstGeom>
          <a:solidFill>
            <a:srgbClr val="1A7A9A"/>
          </a:solidFill>
          <a:ln/>
        </p:spPr>
        <p:txBody>
          <a:bodyPr/>
          <a:lstStyle/>
          <a:p>
            <a:endParaRPr lang="en-US"/>
          </a:p>
        </p:txBody>
      </p:sp>
      <p:sp>
        <p:nvSpPr>
          <p:cNvPr id="15" name="Text 13"/>
          <p:cNvSpPr/>
          <p:nvPr/>
        </p:nvSpPr>
        <p:spPr>
          <a:xfrm>
            <a:off x="4754880" y="1115568"/>
            <a:ext cx="4069080" cy="411480"/>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Dataset Split</a:t>
            </a:r>
            <a:endParaRPr lang="en-US" sz="1400" dirty="0"/>
          </a:p>
        </p:txBody>
      </p:sp>
      <p:sp>
        <p:nvSpPr>
          <p:cNvPr id="16" name="Shape 14"/>
          <p:cNvSpPr/>
          <p:nvPr/>
        </p:nvSpPr>
        <p:spPr>
          <a:xfrm>
            <a:off x="4828032" y="1664208"/>
            <a:ext cx="1143000" cy="475488"/>
          </a:xfrm>
          <a:prstGeom prst="rect">
            <a:avLst/>
          </a:prstGeom>
          <a:solidFill>
            <a:srgbClr val="0B2545"/>
          </a:solidFill>
          <a:ln/>
        </p:spPr>
        <p:txBody>
          <a:bodyPr/>
          <a:lstStyle/>
          <a:p>
            <a:endParaRPr lang="en-US"/>
          </a:p>
        </p:txBody>
      </p:sp>
      <p:sp>
        <p:nvSpPr>
          <p:cNvPr id="17" name="Text 15"/>
          <p:cNvSpPr/>
          <p:nvPr/>
        </p:nvSpPr>
        <p:spPr>
          <a:xfrm>
            <a:off x="4828032" y="1664208"/>
            <a:ext cx="11430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70%</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Training</a:t>
            </a:r>
            <a:endParaRPr lang="en-US" sz="1200" dirty="0"/>
          </a:p>
        </p:txBody>
      </p:sp>
      <p:sp>
        <p:nvSpPr>
          <p:cNvPr id="18" name="Text 16"/>
          <p:cNvSpPr/>
          <p:nvPr/>
        </p:nvSpPr>
        <p:spPr>
          <a:xfrm>
            <a:off x="4828032" y="2176272"/>
            <a:ext cx="1143000" cy="411480"/>
          </a:xfrm>
          <a:prstGeom prst="rect">
            <a:avLst/>
          </a:prstGeom>
          <a:noFill/>
          <a:ln/>
        </p:spPr>
        <p:txBody>
          <a:bodyPr wrap="square" lIns="0" tIns="0" rIns="0" bIns="0" rtlCol="0" anchor="ctr"/>
          <a:lstStyle/>
          <a:p>
            <a:pPr marL="0" indent="0" algn="ctr">
              <a:buNone/>
            </a:pPr>
            <a:r>
              <a:rPr lang="en-US" sz="950" dirty="0">
                <a:solidFill>
                  <a:srgbClr val="4A5568"/>
                </a:solidFill>
                <a:latin typeface="Calibri" pitchFamily="34" charset="0"/>
                <a:ea typeface="Calibri" pitchFamily="34" charset="-122"/>
                <a:cs typeface="Calibri" pitchFamily="34" charset="-120"/>
              </a:rPr>
              <a:t>Purpose: Model training</a:t>
            </a:r>
            <a:endParaRPr lang="en-US" sz="950" dirty="0"/>
          </a:p>
        </p:txBody>
      </p:sp>
      <p:sp>
        <p:nvSpPr>
          <p:cNvPr id="19" name="Shape 17"/>
          <p:cNvSpPr/>
          <p:nvPr/>
        </p:nvSpPr>
        <p:spPr>
          <a:xfrm>
            <a:off x="6153912" y="1664208"/>
            <a:ext cx="1143000" cy="475488"/>
          </a:xfrm>
          <a:prstGeom prst="rect">
            <a:avLst/>
          </a:prstGeom>
          <a:solidFill>
            <a:srgbClr val="1A7A9A"/>
          </a:solidFill>
          <a:ln/>
        </p:spPr>
        <p:txBody>
          <a:bodyPr/>
          <a:lstStyle/>
          <a:p>
            <a:endParaRPr lang="en-US"/>
          </a:p>
        </p:txBody>
      </p:sp>
      <p:sp>
        <p:nvSpPr>
          <p:cNvPr id="20" name="Text 18"/>
          <p:cNvSpPr/>
          <p:nvPr/>
        </p:nvSpPr>
        <p:spPr>
          <a:xfrm>
            <a:off x="6153912" y="1664208"/>
            <a:ext cx="11430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15%</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p>
        </p:txBody>
      </p:sp>
      <p:sp>
        <p:nvSpPr>
          <p:cNvPr id="21" name="Text 19"/>
          <p:cNvSpPr/>
          <p:nvPr/>
        </p:nvSpPr>
        <p:spPr>
          <a:xfrm>
            <a:off x="6153912" y="2176272"/>
            <a:ext cx="1143000" cy="411480"/>
          </a:xfrm>
          <a:prstGeom prst="rect">
            <a:avLst/>
          </a:prstGeom>
          <a:noFill/>
          <a:ln/>
        </p:spPr>
        <p:txBody>
          <a:bodyPr wrap="square" lIns="0" tIns="0" rIns="0" bIns="0" rtlCol="0" anchor="ctr"/>
          <a:lstStyle/>
          <a:p>
            <a:pPr marL="0" indent="0" algn="ctr">
              <a:buNone/>
            </a:pPr>
            <a:r>
              <a:rPr lang="en-US" sz="950" dirty="0">
                <a:solidFill>
                  <a:srgbClr val="4A5568"/>
                </a:solidFill>
                <a:latin typeface="Calibri" pitchFamily="34" charset="0"/>
                <a:ea typeface="Calibri" pitchFamily="34" charset="-122"/>
                <a:cs typeface="Calibri" pitchFamily="34" charset="-120"/>
              </a:rPr>
              <a:t>Purpose: Hyperparameter tuning</a:t>
            </a:r>
            <a:endParaRPr lang="en-US" sz="950" dirty="0"/>
          </a:p>
        </p:txBody>
      </p:sp>
      <p:sp>
        <p:nvSpPr>
          <p:cNvPr id="22" name="Shape 20"/>
          <p:cNvSpPr/>
          <p:nvPr/>
        </p:nvSpPr>
        <p:spPr>
          <a:xfrm>
            <a:off x="7479792" y="1664208"/>
            <a:ext cx="1143000" cy="475488"/>
          </a:xfrm>
          <a:prstGeom prst="rect">
            <a:avLst/>
          </a:prstGeom>
          <a:solidFill>
            <a:srgbClr val="1A8C5B"/>
          </a:solidFill>
          <a:ln/>
        </p:spPr>
        <p:txBody>
          <a:bodyPr/>
          <a:lstStyle/>
          <a:p>
            <a:endParaRPr lang="en-US"/>
          </a:p>
        </p:txBody>
      </p:sp>
      <p:sp>
        <p:nvSpPr>
          <p:cNvPr id="23" name="Text 21"/>
          <p:cNvSpPr/>
          <p:nvPr/>
        </p:nvSpPr>
        <p:spPr>
          <a:xfrm>
            <a:off x="7479792" y="1664208"/>
            <a:ext cx="11430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15%</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Testing</a:t>
            </a:r>
            <a:endParaRPr lang="en-US" sz="1200" dirty="0"/>
          </a:p>
        </p:txBody>
      </p:sp>
      <p:sp>
        <p:nvSpPr>
          <p:cNvPr id="24" name="Text 22"/>
          <p:cNvSpPr/>
          <p:nvPr/>
        </p:nvSpPr>
        <p:spPr>
          <a:xfrm>
            <a:off x="7479792" y="2176272"/>
            <a:ext cx="1143000" cy="411480"/>
          </a:xfrm>
          <a:prstGeom prst="rect">
            <a:avLst/>
          </a:prstGeom>
          <a:noFill/>
          <a:ln/>
        </p:spPr>
        <p:txBody>
          <a:bodyPr wrap="square" lIns="0" tIns="0" rIns="0" bIns="0" rtlCol="0" anchor="ctr"/>
          <a:lstStyle/>
          <a:p>
            <a:pPr marL="0" indent="0" algn="ctr">
              <a:buNone/>
            </a:pPr>
            <a:r>
              <a:rPr lang="en-US" sz="950" dirty="0">
                <a:solidFill>
                  <a:srgbClr val="4A5568"/>
                </a:solidFill>
                <a:latin typeface="Calibri" pitchFamily="34" charset="0"/>
                <a:ea typeface="Calibri" pitchFamily="34" charset="-122"/>
                <a:cs typeface="Calibri" pitchFamily="34" charset="-120"/>
              </a:rPr>
              <a:t>Purpose: Final evaluation</a:t>
            </a:r>
            <a:endParaRPr lang="en-US" sz="950" dirty="0"/>
          </a:p>
        </p:txBody>
      </p:sp>
      <p:sp>
        <p:nvSpPr>
          <p:cNvPr id="25" name="Shape 23"/>
          <p:cNvSpPr/>
          <p:nvPr/>
        </p:nvSpPr>
        <p:spPr>
          <a:xfrm>
            <a:off x="4709160" y="2944368"/>
            <a:ext cx="4160520" cy="182880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6" name="Shape 24"/>
          <p:cNvSpPr/>
          <p:nvPr/>
        </p:nvSpPr>
        <p:spPr>
          <a:xfrm>
            <a:off x="4709160" y="2944368"/>
            <a:ext cx="4160520" cy="411480"/>
          </a:xfrm>
          <a:prstGeom prst="rect">
            <a:avLst/>
          </a:prstGeom>
          <a:solidFill>
            <a:srgbClr val="0B2545"/>
          </a:solidFill>
          <a:ln/>
        </p:spPr>
        <p:txBody>
          <a:bodyPr/>
          <a:lstStyle/>
          <a:p>
            <a:endParaRPr lang="en-US"/>
          </a:p>
        </p:txBody>
      </p:sp>
      <p:sp>
        <p:nvSpPr>
          <p:cNvPr id="27" name="Text 25"/>
          <p:cNvSpPr/>
          <p:nvPr/>
        </p:nvSpPr>
        <p:spPr>
          <a:xfrm>
            <a:off x="4754880" y="2944368"/>
            <a:ext cx="4069080" cy="411480"/>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Evaluation Metrics</a:t>
            </a:r>
            <a:endParaRPr lang="en-US" sz="1400" dirty="0"/>
          </a:p>
        </p:txBody>
      </p:sp>
      <p:sp>
        <p:nvSpPr>
          <p:cNvPr id="28" name="Text 26"/>
          <p:cNvSpPr/>
          <p:nvPr/>
        </p:nvSpPr>
        <p:spPr>
          <a:xfrm>
            <a:off x="4828032" y="3438144"/>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Accuracy: </a:t>
            </a:r>
            <a:endParaRPr lang="en-US" sz="1150" dirty="0"/>
          </a:p>
        </p:txBody>
      </p:sp>
      <p:sp>
        <p:nvSpPr>
          <p:cNvPr id="29" name="Text 27"/>
          <p:cNvSpPr/>
          <p:nvPr/>
        </p:nvSpPr>
        <p:spPr>
          <a:xfrm>
            <a:off x="6199632" y="3438144"/>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Overall classification correctness</a:t>
            </a:r>
            <a:endParaRPr lang="en-US" sz="1150" dirty="0"/>
          </a:p>
        </p:txBody>
      </p:sp>
      <p:sp>
        <p:nvSpPr>
          <p:cNvPr id="30" name="Text 28"/>
          <p:cNvSpPr/>
          <p:nvPr/>
        </p:nvSpPr>
        <p:spPr>
          <a:xfrm>
            <a:off x="4828032" y="3657600"/>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Precision: </a:t>
            </a:r>
            <a:endParaRPr lang="en-US" sz="1150" dirty="0"/>
          </a:p>
        </p:txBody>
      </p:sp>
      <p:sp>
        <p:nvSpPr>
          <p:cNvPr id="31" name="Text 29"/>
          <p:cNvSpPr/>
          <p:nvPr/>
        </p:nvSpPr>
        <p:spPr>
          <a:xfrm>
            <a:off x="6199632" y="3657600"/>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How many detected cases are truly positive</a:t>
            </a:r>
            <a:endParaRPr lang="en-US" sz="1150" dirty="0"/>
          </a:p>
        </p:txBody>
      </p:sp>
      <p:sp>
        <p:nvSpPr>
          <p:cNvPr id="32" name="Text 30"/>
          <p:cNvSpPr/>
          <p:nvPr/>
        </p:nvSpPr>
        <p:spPr>
          <a:xfrm>
            <a:off x="4828032" y="3877056"/>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Recall: </a:t>
            </a:r>
            <a:endParaRPr lang="en-US" sz="1150" dirty="0"/>
          </a:p>
        </p:txBody>
      </p:sp>
      <p:sp>
        <p:nvSpPr>
          <p:cNvPr id="33" name="Text 31"/>
          <p:cNvSpPr/>
          <p:nvPr/>
        </p:nvSpPr>
        <p:spPr>
          <a:xfrm>
            <a:off x="6199632" y="3877056"/>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How many actual cases the model finds</a:t>
            </a:r>
            <a:endParaRPr lang="en-US" sz="1150" dirty="0"/>
          </a:p>
        </p:txBody>
      </p:sp>
      <p:sp>
        <p:nvSpPr>
          <p:cNvPr id="34" name="Text 32"/>
          <p:cNvSpPr/>
          <p:nvPr/>
        </p:nvSpPr>
        <p:spPr>
          <a:xfrm>
            <a:off x="4828032" y="4096512"/>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F1-Score: </a:t>
            </a:r>
            <a:endParaRPr lang="en-US" sz="1150" dirty="0"/>
          </a:p>
        </p:txBody>
      </p:sp>
      <p:sp>
        <p:nvSpPr>
          <p:cNvPr id="35" name="Text 33"/>
          <p:cNvSpPr/>
          <p:nvPr/>
        </p:nvSpPr>
        <p:spPr>
          <a:xfrm>
            <a:off x="6199632" y="4096512"/>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Harmonic balance of Precision &amp; Recall</a:t>
            </a:r>
            <a:endParaRPr lang="en-US" sz="1150" dirty="0"/>
          </a:p>
        </p:txBody>
      </p:sp>
      <p:sp>
        <p:nvSpPr>
          <p:cNvPr id="36" name="Text 34"/>
          <p:cNvSpPr/>
          <p:nvPr/>
        </p:nvSpPr>
        <p:spPr>
          <a:xfrm>
            <a:off x="4828032" y="4315968"/>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MSE: </a:t>
            </a:r>
            <a:endParaRPr lang="en-US" sz="1150" dirty="0"/>
          </a:p>
        </p:txBody>
      </p:sp>
      <p:sp>
        <p:nvSpPr>
          <p:cNvPr id="37" name="Text 35"/>
          <p:cNvSpPr/>
          <p:nvPr/>
        </p:nvSpPr>
        <p:spPr>
          <a:xfrm>
            <a:off x="6199632" y="4315968"/>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Regression error on the severity score</a:t>
            </a:r>
            <a:endParaRPr lang="en-US" sz="1150" dirty="0"/>
          </a:p>
        </p:txBody>
      </p:sp>
      <p:sp>
        <p:nvSpPr>
          <p:cNvPr id="38" name="Text 36"/>
          <p:cNvSpPr/>
          <p:nvPr/>
        </p:nvSpPr>
        <p:spPr>
          <a:xfrm>
            <a:off x="4828032" y="4535424"/>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Confusion Matrix: </a:t>
            </a:r>
            <a:endParaRPr lang="en-US" sz="1150" dirty="0"/>
          </a:p>
        </p:txBody>
      </p:sp>
      <p:sp>
        <p:nvSpPr>
          <p:cNvPr id="39" name="Text 37"/>
          <p:cNvSpPr/>
          <p:nvPr/>
        </p:nvSpPr>
        <p:spPr>
          <a:xfrm>
            <a:off x="6199632" y="4535424"/>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Per-class error breakdown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Proposed Methodology — System Workflow</a:t>
            </a:r>
            <a:endParaRPr lang="en-US" sz="2700" dirty="0"/>
          </a:p>
        </p:txBody>
      </p:sp>
      <p:sp>
        <p:nvSpPr>
          <p:cNvPr id="5" name="Shape 3"/>
          <p:cNvSpPr/>
          <p:nvPr/>
        </p:nvSpPr>
        <p:spPr>
          <a:xfrm>
            <a:off x="256032" y="1115568"/>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1353312" y="1207008"/>
            <a:ext cx="548640" cy="548640"/>
          </a:xfrm>
          <a:prstGeom prst="ellipse">
            <a:avLst/>
          </a:prstGeom>
          <a:solidFill>
            <a:srgbClr val="0B2545"/>
          </a:solidFill>
          <a:ln/>
        </p:spPr>
        <p:txBody>
          <a:bodyPr/>
          <a:lstStyle/>
          <a:p>
            <a:endParaRPr lang="en-US"/>
          </a:p>
        </p:txBody>
      </p:sp>
      <p:sp>
        <p:nvSpPr>
          <p:cNvPr id="7" name="Text 5"/>
          <p:cNvSpPr/>
          <p:nvPr/>
        </p:nvSpPr>
        <p:spPr>
          <a:xfrm>
            <a:off x="1353312" y="1207008"/>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1</a:t>
            </a:r>
            <a:endParaRPr lang="en-US" sz="1700" dirty="0"/>
          </a:p>
        </p:txBody>
      </p:sp>
      <p:sp>
        <p:nvSpPr>
          <p:cNvPr id="8" name="Text 6"/>
          <p:cNvSpPr/>
          <p:nvPr/>
        </p:nvSpPr>
        <p:spPr>
          <a:xfrm>
            <a:off x="329184" y="1801368"/>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Image Upload</a:t>
            </a:r>
            <a:endParaRPr lang="en-US" sz="1300" dirty="0"/>
          </a:p>
        </p:txBody>
      </p:sp>
      <p:sp>
        <p:nvSpPr>
          <p:cNvPr id="9" name="Text 7"/>
          <p:cNvSpPr/>
          <p:nvPr/>
        </p:nvSpPr>
        <p:spPr>
          <a:xfrm>
            <a:off x="347472" y="2167128"/>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User opens the Streamlit web app and uploads a retinal fundus photograph.</a:t>
            </a:r>
            <a:endParaRPr lang="en-US" sz="1100" dirty="0"/>
          </a:p>
        </p:txBody>
      </p:sp>
      <p:sp>
        <p:nvSpPr>
          <p:cNvPr id="10" name="Shape 8"/>
          <p:cNvSpPr/>
          <p:nvPr/>
        </p:nvSpPr>
        <p:spPr>
          <a:xfrm>
            <a:off x="3017520" y="1975104"/>
            <a:ext cx="128016" cy="128016"/>
          </a:xfrm>
          <a:prstGeom prst="rect">
            <a:avLst/>
          </a:prstGeom>
          <a:solidFill>
            <a:srgbClr val="2EC4B6"/>
          </a:solidFill>
          <a:ln/>
        </p:spPr>
        <p:txBody>
          <a:bodyPr/>
          <a:lstStyle/>
          <a:p>
            <a:endParaRPr lang="en-US"/>
          </a:p>
        </p:txBody>
      </p:sp>
      <p:sp>
        <p:nvSpPr>
          <p:cNvPr id="11" name="Shape 9"/>
          <p:cNvSpPr/>
          <p:nvPr/>
        </p:nvSpPr>
        <p:spPr>
          <a:xfrm>
            <a:off x="3163824" y="1115568"/>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10"/>
          <p:cNvSpPr/>
          <p:nvPr/>
        </p:nvSpPr>
        <p:spPr>
          <a:xfrm>
            <a:off x="4261104" y="1207008"/>
            <a:ext cx="548640" cy="548640"/>
          </a:xfrm>
          <a:prstGeom prst="ellipse">
            <a:avLst/>
          </a:prstGeom>
          <a:solidFill>
            <a:srgbClr val="0B2545"/>
          </a:solidFill>
          <a:ln/>
        </p:spPr>
        <p:txBody>
          <a:bodyPr/>
          <a:lstStyle/>
          <a:p>
            <a:endParaRPr lang="en-US"/>
          </a:p>
        </p:txBody>
      </p:sp>
      <p:sp>
        <p:nvSpPr>
          <p:cNvPr id="13" name="Text 11"/>
          <p:cNvSpPr/>
          <p:nvPr/>
        </p:nvSpPr>
        <p:spPr>
          <a:xfrm>
            <a:off x="4261104" y="1207008"/>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2</a:t>
            </a:r>
            <a:endParaRPr lang="en-US" sz="1700" dirty="0"/>
          </a:p>
        </p:txBody>
      </p:sp>
      <p:sp>
        <p:nvSpPr>
          <p:cNvPr id="14" name="Text 12"/>
          <p:cNvSpPr/>
          <p:nvPr/>
        </p:nvSpPr>
        <p:spPr>
          <a:xfrm>
            <a:off x="3236976" y="1801368"/>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Preprocessing</a:t>
            </a:r>
            <a:endParaRPr lang="en-US" sz="1300" dirty="0"/>
          </a:p>
        </p:txBody>
      </p:sp>
      <p:sp>
        <p:nvSpPr>
          <p:cNvPr id="15" name="Text 13"/>
          <p:cNvSpPr/>
          <p:nvPr/>
        </p:nvSpPr>
        <p:spPr>
          <a:xfrm>
            <a:off x="3255264" y="2167128"/>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Convert to RGB → resize to 224×224 → normalize pixels to [0,1] → expand batch dimension.</a:t>
            </a:r>
            <a:endParaRPr lang="en-US" sz="1100" dirty="0"/>
          </a:p>
        </p:txBody>
      </p:sp>
      <p:sp>
        <p:nvSpPr>
          <p:cNvPr id="16" name="Shape 14"/>
          <p:cNvSpPr/>
          <p:nvPr/>
        </p:nvSpPr>
        <p:spPr>
          <a:xfrm>
            <a:off x="5925312" y="1975104"/>
            <a:ext cx="128016" cy="128016"/>
          </a:xfrm>
          <a:prstGeom prst="rect">
            <a:avLst/>
          </a:prstGeom>
          <a:solidFill>
            <a:srgbClr val="2EC4B6"/>
          </a:solidFill>
          <a:ln/>
        </p:spPr>
        <p:txBody>
          <a:bodyPr/>
          <a:lstStyle/>
          <a:p>
            <a:endParaRPr lang="en-US"/>
          </a:p>
        </p:txBody>
      </p:sp>
      <p:sp>
        <p:nvSpPr>
          <p:cNvPr id="17" name="Shape 15"/>
          <p:cNvSpPr/>
          <p:nvPr/>
        </p:nvSpPr>
        <p:spPr>
          <a:xfrm>
            <a:off x="6071616" y="1115568"/>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7168896" y="1207008"/>
            <a:ext cx="548640" cy="548640"/>
          </a:xfrm>
          <a:prstGeom prst="ellipse">
            <a:avLst/>
          </a:prstGeom>
          <a:solidFill>
            <a:srgbClr val="0B2545"/>
          </a:solidFill>
          <a:ln/>
        </p:spPr>
        <p:txBody>
          <a:bodyPr/>
          <a:lstStyle/>
          <a:p>
            <a:endParaRPr lang="en-US"/>
          </a:p>
        </p:txBody>
      </p:sp>
      <p:sp>
        <p:nvSpPr>
          <p:cNvPr id="19" name="Text 17"/>
          <p:cNvSpPr/>
          <p:nvPr/>
        </p:nvSpPr>
        <p:spPr>
          <a:xfrm>
            <a:off x="7168896" y="1207008"/>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3</a:t>
            </a:r>
            <a:endParaRPr lang="en-US" sz="1700" dirty="0"/>
          </a:p>
        </p:txBody>
      </p:sp>
      <p:sp>
        <p:nvSpPr>
          <p:cNvPr id="20" name="Text 18"/>
          <p:cNvSpPr/>
          <p:nvPr/>
        </p:nvSpPr>
        <p:spPr>
          <a:xfrm>
            <a:off x="6144768" y="1801368"/>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Feature Extract</a:t>
            </a:r>
            <a:endParaRPr lang="en-US" sz="1300" dirty="0"/>
          </a:p>
        </p:txBody>
      </p:sp>
      <p:sp>
        <p:nvSpPr>
          <p:cNvPr id="21" name="Text 19"/>
          <p:cNvSpPr/>
          <p:nvPr/>
        </p:nvSpPr>
        <p:spPr>
          <a:xfrm>
            <a:off x="6163056" y="2167128"/>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Shared CNN layers (Conv + ReLU + Pooling) learn spatial features: lesions, vessel patterns, optic disc changes.</a:t>
            </a:r>
            <a:endParaRPr lang="en-US" sz="1100" dirty="0"/>
          </a:p>
        </p:txBody>
      </p:sp>
      <p:sp>
        <p:nvSpPr>
          <p:cNvPr id="22" name="Shape 20"/>
          <p:cNvSpPr/>
          <p:nvPr/>
        </p:nvSpPr>
        <p:spPr>
          <a:xfrm>
            <a:off x="256032" y="3017520"/>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3" name="Shape 21"/>
          <p:cNvSpPr/>
          <p:nvPr/>
        </p:nvSpPr>
        <p:spPr>
          <a:xfrm>
            <a:off x="1353312" y="3108960"/>
            <a:ext cx="548640" cy="548640"/>
          </a:xfrm>
          <a:prstGeom prst="ellipse">
            <a:avLst/>
          </a:prstGeom>
          <a:solidFill>
            <a:srgbClr val="0B2545"/>
          </a:solidFill>
          <a:ln/>
        </p:spPr>
        <p:txBody>
          <a:bodyPr/>
          <a:lstStyle/>
          <a:p>
            <a:endParaRPr lang="en-US"/>
          </a:p>
        </p:txBody>
      </p:sp>
      <p:sp>
        <p:nvSpPr>
          <p:cNvPr id="24" name="Text 22"/>
          <p:cNvSpPr/>
          <p:nvPr/>
        </p:nvSpPr>
        <p:spPr>
          <a:xfrm>
            <a:off x="1353312" y="310896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4</a:t>
            </a:r>
            <a:endParaRPr lang="en-US" sz="1700" dirty="0"/>
          </a:p>
        </p:txBody>
      </p:sp>
      <p:sp>
        <p:nvSpPr>
          <p:cNvPr id="25" name="Text 23"/>
          <p:cNvSpPr/>
          <p:nvPr/>
        </p:nvSpPr>
        <p:spPr>
          <a:xfrm>
            <a:off x="329184" y="3703320"/>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Classification</a:t>
            </a:r>
            <a:endParaRPr lang="en-US" sz="1300" dirty="0"/>
          </a:p>
        </p:txBody>
      </p:sp>
      <p:sp>
        <p:nvSpPr>
          <p:cNvPr id="26" name="Text 24"/>
          <p:cNvSpPr/>
          <p:nvPr/>
        </p:nvSpPr>
        <p:spPr>
          <a:xfrm>
            <a:off x="347472" y="4069080"/>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Dense layers + Softmax → probabilities for Cataract, Diabetic Retinopathy, Glaucoma, Normal.</a:t>
            </a:r>
            <a:endParaRPr lang="en-US" sz="1100" dirty="0"/>
          </a:p>
        </p:txBody>
      </p:sp>
      <p:sp>
        <p:nvSpPr>
          <p:cNvPr id="27" name="Shape 25"/>
          <p:cNvSpPr/>
          <p:nvPr/>
        </p:nvSpPr>
        <p:spPr>
          <a:xfrm>
            <a:off x="3017520" y="3877056"/>
            <a:ext cx="128016" cy="128016"/>
          </a:xfrm>
          <a:prstGeom prst="rect">
            <a:avLst/>
          </a:prstGeom>
          <a:solidFill>
            <a:srgbClr val="2EC4B6"/>
          </a:solidFill>
          <a:ln/>
        </p:spPr>
        <p:txBody>
          <a:bodyPr/>
          <a:lstStyle/>
          <a:p>
            <a:endParaRPr lang="en-US"/>
          </a:p>
        </p:txBody>
      </p:sp>
      <p:sp>
        <p:nvSpPr>
          <p:cNvPr id="28" name="Shape 26"/>
          <p:cNvSpPr/>
          <p:nvPr/>
        </p:nvSpPr>
        <p:spPr>
          <a:xfrm>
            <a:off x="3163824" y="3017520"/>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9" name="Shape 27"/>
          <p:cNvSpPr/>
          <p:nvPr/>
        </p:nvSpPr>
        <p:spPr>
          <a:xfrm>
            <a:off x="4261104" y="3108960"/>
            <a:ext cx="548640" cy="548640"/>
          </a:xfrm>
          <a:prstGeom prst="ellipse">
            <a:avLst/>
          </a:prstGeom>
          <a:solidFill>
            <a:srgbClr val="0B2545"/>
          </a:solidFill>
          <a:ln/>
        </p:spPr>
        <p:txBody>
          <a:bodyPr/>
          <a:lstStyle/>
          <a:p>
            <a:endParaRPr lang="en-US"/>
          </a:p>
        </p:txBody>
      </p:sp>
      <p:sp>
        <p:nvSpPr>
          <p:cNvPr id="30" name="Text 28"/>
          <p:cNvSpPr/>
          <p:nvPr/>
        </p:nvSpPr>
        <p:spPr>
          <a:xfrm>
            <a:off x="4261104" y="310896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5</a:t>
            </a:r>
            <a:endParaRPr lang="en-US" sz="1700" dirty="0"/>
          </a:p>
        </p:txBody>
      </p:sp>
      <p:sp>
        <p:nvSpPr>
          <p:cNvPr id="31" name="Text 29"/>
          <p:cNvSpPr/>
          <p:nvPr/>
        </p:nvSpPr>
        <p:spPr>
          <a:xfrm>
            <a:off x="3236976" y="3703320"/>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Severity Score</a:t>
            </a:r>
            <a:endParaRPr lang="en-US" sz="1300" dirty="0"/>
          </a:p>
        </p:txBody>
      </p:sp>
      <p:sp>
        <p:nvSpPr>
          <p:cNvPr id="32" name="Text 30"/>
          <p:cNvSpPr/>
          <p:nvPr/>
        </p:nvSpPr>
        <p:spPr>
          <a:xfrm>
            <a:off x="3255264" y="4069080"/>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Regression head outputs a continuous 0→1 score indicating how severe the detected condition is.</a:t>
            </a:r>
            <a:endParaRPr lang="en-US" sz="1100" dirty="0"/>
          </a:p>
        </p:txBody>
      </p:sp>
      <p:sp>
        <p:nvSpPr>
          <p:cNvPr id="33" name="Shape 31"/>
          <p:cNvSpPr/>
          <p:nvPr/>
        </p:nvSpPr>
        <p:spPr>
          <a:xfrm>
            <a:off x="5925312" y="3877056"/>
            <a:ext cx="128016" cy="128016"/>
          </a:xfrm>
          <a:prstGeom prst="rect">
            <a:avLst/>
          </a:prstGeom>
          <a:solidFill>
            <a:srgbClr val="2EC4B6"/>
          </a:solidFill>
          <a:ln/>
        </p:spPr>
        <p:txBody>
          <a:bodyPr/>
          <a:lstStyle/>
          <a:p>
            <a:endParaRPr lang="en-US"/>
          </a:p>
        </p:txBody>
      </p:sp>
      <p:sp>
        <p:nvSpPr>
          <p:cNvPr id="34" name="Shape 32"/>
          <p:cNvSpPr/>
          <p:nvPr/>
        </p:nvSpPr>
        <p:spPr>
          <a:xfrm>
            <a:off x="6071616" y="3017520"/>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35" name="Shape 33"/>
          <p:cNvSpPr/>
          <p:nvPr/>
        </p:nvSpPr>
        <p:spPr>
          <a:xfrm>
            <a:off x="7168896" y="3108960"/>
            <a:ext cx="548640" cy="548640"/>
          </a:xfrm>
          <a:prstGeom prst="ellipse">
            <a:avLst/>
          </a:prstGeom>
          <a:solidFill>
            <a:srgbClr val="0B2545"/>
          </a:solidFill>
          <a:ln/>
        </p:spPr>
        <p:txBody>
          <a:bodyPr/>
          <a:lstStyle/>
          <a:p>
            <a:endParaRPr lang="en-US"/>
          </a:p>
        </p:txBody>
      </p:sp>
      <p:sp>
        <p:nvSpPr>
          <p:cNvPr id="36" name="Text 34"/>
          <p:cNvSpPr/>
          <p:nvPr/>
        </p:nvSpPr>
        <p:spPr>
          <a:xfrm>
            <a:off x="7168896" y="310896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6</a:t>
            </a:r>
            <a:endParaRPr lang="en-US" sz="1700" dirty="0"/>
          </a:p>
        </p:txBody>
      </p:sp>
      <p:sp>
        <p:nvSpPr>
          <p:cNvPr id="37" name="Text 35"/>
          <p:cNvSpPr/>
          <p:nvPr/>
        </p:nvSpPr>
        <p:spPr>
          <a:xfrm>
            <a:off x="6144768" y="3703320"/>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Results Display</a:t>
            </a:r>
            <a:endParaRPr lang="en-US" sz="1300" dirty="0"/>
          </a:p>
        </p:txBody>
      </p:sp>
      <p:sp>
        <p:nvSpPr>
          <p:cNvPr id="38" name="Text 36"/>
          <p:cNvSpPr/>
          <p:nvPr/>
        </p:nvSpPr>
        <p:spPr>
          <a:xfrm>
            <a:off x="6163056" y="4069080"/>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Streamlit shows predicted class, severity bar, probability distribution, and suggested clinical action.</a:t>
            </a:r>
            <a:endParaRPr lang="en-US" sz="1100" dirty="0"/>
          </a:p>
        </p:txBody>
      </p:sp>
      <p:sp>
        <p:nvSpPr>
          <p:cNvPr id="39" name="Text 37"/>
          <p:cNvSpPr/>
          <p:nvPr/>
        </p:nvSpPr>
        <p:spPr>
          <a:xfrm>
            <a:off x="274320" y="4864608"/>
            <a:ext cx="8595360" cy="274320"/>
          </a:xfrm>
          <a:prstGeom prst="rect">
            <a:avLst/>
          </a:prstGeom>
          <a:noFill/>
          <a:ln/>
        </p:spPr>
        <p:txBody>
          <a:bodyPr wrap="square" lIns="0" tIns="0" rIns="0" bIns="0" rtlCol="0" anchor="ctr"/>
          <a:lstStyle/>
          <a:p>
            <a:pPr marL="0" indent="0" algn="ctr">
              <a:buNone/>
            </a:pPr>
            <a:r>
              <a:rPr lang="en-US" sz="1200" i="1" dirty="0">
                <a:solidFill>
                  <a:srgbClr val="1A7A9A"/>
                </a:solidFill>
                <a:latin typeface="Calibri" pitchFamily="34" charset="0"/>
                <a:ea typeface="Calibri" pitchFamily="34" charset="-122"/>
                <a:cs typeface="Calibri" pitchFamily="34" charset="-120"/>
              </a:rPr>
              <a:t>Tech Stack:  TensorFlow / Keras   •   NumPy   •   PIL   •   Streamlit   •   Python (end-to-end)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Implementation — Model Architecture</a:t>
            </a:r>
            <a:endParaRPr lang="en-US" sz="2700" dirty="0"/>
          </a:p>
        </p:txBody>
      </p:sp>
      <p:sp>
        <p:nvSpPr>
          <p:cNvPr id="5" name="Shape 3"/>
          <p:cNvSpPr/>
          <p:nvPr/>
        </p:nvSpPr>
        <p:spPr>
          <a:xfrm>
            <a:off x="256032" y="1115568"/>
            <a:ext cx="2011680" cy="3474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56032" y="1115568"/>
            <a:ext cx="2011680" cy="475488"/>
          </a:xfrm>
          <a:prstGeom prst="rect">
            <a:avLst/>
          </a:prstGeom>
          <a:solidFill>
            <a:srgbClr val="1A7A9A"/>
          </a:solidFill>
          <a:ln/>
        </p:spPr>
        <p:txBody>
          <a:bodyPr/>
          <a:lstStyle/>
          <a:p>
            <a:endParaRPr lang="en-US"/>
          </a:p>
        </p:txBody>
      </p:sp>
      <p:sp>
        <p:nvSpPr>
          <p:cNvPr id="7" name="Text 5"/>
          <p:cNvSpPr/>
          <p:nvPr/>
        </p:nvSpPr>
        <p:spPr>
          <a:xfrm>
            <a:off x="301752" y="1115568"/>
            <a:ext cx="192024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Input Layer</a:t>
            </a:r>
            <a:endParaRPr lang="en-US" sz="1250" dirty="0"/>
          </a:p>
        </p:txBody>
      </p:sp>
      <p:sp>
        <p:nvSpPr>
          <p:cNvPr id="8" name="Text 6"/>
          <p:cNvSpPr/>
          <p:nvPr/>
        </p:nvSpPr>
        <p:spPr>
          <a:xfrm>
            <a:off x="347472" y="169164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Fundus image: 224 × 224 × 3</a:t>
            </a:r>
            <a:endParaRPr lang="en-US" sz="1150" dirty="0"/>
          </a:p>
        </p:txBody>
      </p:sp>
      <p:sp>
        <p:nvSpPr>
          <p:cNvPr id="9" name="Text 7"/>
          <p:cNvSpPr/>
          <p:nvPr/>
        </p:nvSpPr>
        <p:spPr>
          <a:xfrm>
            <a:off x="347472" y="219456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Normalized to [0, 1]</a:t>
            </a:r>
            <a:endParaRPr lang="en-US" sz="1150" dirty="0"/>
          </a:p>
        </p:txBody>
      </p:sp>
      <p:sp>
        <p:nvSpPr>
          <p:cNvPr id="10" name="Text 8"/>
          <p:cNvSpPr/>
          <p:nvPr/>
        </p:nvSpPr>
        <p:spPr>
          <a:xfrm>
            <a:off x="347472" y="269748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Batch dimension expanded</a:t>
            </a:r>
            <a:endParaRPr lang="en-US" sz="1150" dirty="0"/>
          </a:p>
        </p:txBody>
      </p:sp>
      <p:sp>
        <p:nvSpPr>
          <p:cNvPr id="11" name="Text 9"/>
          <p:cNvSpPr/>
          <p:nvPr/>
        </p:nvSpPr>
        <p:spPr>
          <a:xfrm>
            <a:off x="347472" y="320040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for model compatibility</a:t>
            </a:r>
            <a:endParaRPr lang="en-US" sz="1150" dirty="0"/>
          </a:p>
        </p:txBody>
      </p:sp>
      <p:sp>
        <p:nvSpPr>
          <p:cNvPr id="12" name="Shape 10"/>
          <p:cNvSpPr/>
          <p:nvPr/>
        </p:nvSpPr>
        <p:spPr>
          <a:xfrm>
            <a:off x="2286000" y="2816352"/>
            <a:ext cx="128016" cy="128016"/>
          </a:xfrm>
          <a:prstGeom prst="rect">
            <a:avLst/>
          </a:prstGeom>
          <a:solidFill>
            <a:srgbClr val="2EC4B6"/>
          </a:solidFill>
          <a:ln/>
        </p:spPr>
        <p:txBody>
          <a:bodyPr/>
          <a:lstStyle/>
          <a:p>
            <a:endParaRPr lang="en-US"/>
          </a:p>
        </p:txBody>
      </p:sp>
      <p:sp>
        <p:nvSpPr>
          <p:cNvPr id="13" name="Shape 11"/>
          <p:cNvSpPr/>
          <p:nvPr/>
        </p:nvSpPr>
        <p:spPr>
          <a:xfrm>
            <a:off x="2432304" y="1115568"/>
            <a:ext cx="2011680" cy="3474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2432304" y="1115568"/>
            <a:ext cx="2011680" cy="475488"/>
          </a:xfrm>
          <a:prstGeom prst="rect">
            <a:avLst/>
          </a:prstGeom>
          <a:solidFill>
            <a:srgbClr val="0B2545"/>
          </a:solidFill>
          <a:ln/>
        </p:spPr>
        <p:txBody>
          <a:bodyPr/>
          <a:lstStyle/>
          <a:p>
            <a:endParaRPr lang="en-US"/>
          </a:p>
        </p:txBody>
      </p:sp>
      <p:sp>
        <p:nvSpPr>
          <p:cNvPr id="15" name="Text 13"/>
          <p:cNvSpPr/>
          <p:nvPr/>
        </p:nvSpPr>
        <p:spPr>
          <a:xfrm>
            <a:off x="2478024" y="1115568"/>
            <a:ext cx="192024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Shared Feature Layers</a:t>
            </a:r>
            <a:endParaRPr lang="en-US" sz="1250" dirty="0"/>
          </a:p>
        </p:txBody>
      </p:sp>
      <p:sp>
        <p:nvSpPr>
          <p:cNvPr id="16" name="Text 14"/>
          <p:cNvSpPr/>
          <p:nvPr/>
        </p:nvSpPr>
        <p:spPr>
          <a:xfrm>
            <a:off x="2523744" y="169164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Conv2D + ReLU activation</a:t>
            </a:r>
            <a:endParaRPr lang="en-US" sz="1150" dirty="0"/>
          </a:p>
        </p:txBody>
      </p:sp>
      <p:sp>
        <p:nvSpPr>
          <p:cNvPr id="17" name="Text 15"/>
          <p:cNvSpPr/>
          <p:nvPr/>
        </p:nvSpPr>
        <p:spPr>
          <a:xfrm>
            <a:off x="2523744" y="219456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MaxPooling2D</a:t>
            </a:r>
            <a:endParaRPr lang="en-US" sz="1150" dirty="0"/>
          </a:p>
        </p:txBody>
      </p:sp>
      <p:sp>
        <p:nvSpPr>
          <p:cNvPr id="18" name="Text 16"/>
          <p:cNvSpPr/>
          <p:nvPr/>
        </p:nvSpPr>
        <p:spPr>
          <a:xfrm>
            <a:off x="2523744" y="269748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Multiple stacked blocks</a:t>
            </a:r>
            <a:endParaRPr lang="en-US" sz="1150" dirty="0"/>
          </a:p>
        </p:txBody>
      </p:sp>
      <p:sp>
        <p:nvSpPr>
          <p:cNvPr id="19" name="Text 17"/>
          <p:cNvSpPr/>
          <p:nvPr/>
        </p:nvSpPr>
        <p:spPr>
          <a:xfrm>
            <a:off x="2523744" y="320040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Flatten → Dense layers</a:t>
            </a:r>
            <a:endParaRPr lang="en-US" sz="1150" dirty="0"/>
          </a:p>
        </p:txBody>
      </p:sp>
      <p:sp>
        <p:nvSpPr>
          <p:cNvPr id="20" name="Text 18"/>
          <p:cNvSpPr/>
          <p:nvPr/>
        </p:nvSpPr>
        <p:spPr>
          <a:xfrm>
            <a:off x="2523744" y="370332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Learns: edges → textures → lesions</a:t>
            </a:r>
            <a:endParaRPr lang="en-US" sz="1150" dirty="0"/>
          </a:p>
        </p:txBody>
      </p:sp>
      <p:sp>
        <p:nvSpPr>
          <p:cNvPr id="21" name="Shape 19"/>
          <p:cNvSpPr/>
          <p:nvPr/>
        </p:nvSpPr>
        <p:spPr>
          <a:xfrm>
            <a:off x="4462272" y="2816352"/>
            <a:ext cx="128016" cy="128016"/>
          </a:xfrm>
          <a:prstGeom prst="rect">
            <a:avLst/>
          </a:prstGeom>
          <a:solidFill>
            <a:srgbClr val="2EC4B6"/>
          </a:solidFill>
          <a:ln/>
        </p:spPr>
        <p:txBody>
          <a:bodyPr/>
          <a:lstStyle/>
          <a:p>
            <a:endParaRPr lang="en-US"/>
          </a:p>
        </p:txBody>
      </p:sp>
      <p:sp>
        <p:nvSpPr>
          <p:cNvPr id="22" name="Shape 20"/>
          <p:cNvSpPr/>
          <p:nvPr/>
        </p:nvSpPr>
        <p:spPr>
          <a:xfrm>
            <a:off x="4608576" y="1115568"/>
            <a:ext cx="2011680" cy="3474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3" name="Shape 21"/>
          <p:cNvSpPr/>
          <p:nvPr/>
        </p:nvSpPr>
        <p:spPr>
          <a:xfrm>
            <a:off x="4608576" y="1115568"/>
            <a:ext cx="2011680" cy="475488"/>
          </a:xfrm>
          <a:prstGeom prst="rect">
            <a:avLst/>
          </a:prstGeom>
          <a:solidFill>
            <a:srgbClr val="1A8C5B"/>
          </a:solidFill>
          <a:ln/>
        </p:spPr>
        <p:txBody>
          <a:bodyPr/>
          <a:lstStyle/>
          <a:p>
            <a:endParaRPr lang="en-US"/>
          </a:p>
        </p:txBody>
      </p:sp>
      <p:sp>
        <p:nvSpPr>
          <p:cNvPr id="24" name="Text 22"/>
          <p:cNvSpPr/>
          <p:nvPr/>
        </p:nvSpPr>
        <p:spPr>
          <a:xfrm>
            <a:off x="4654296" y="1115568"/>
            <a:ext cx="192024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Classification Head</a:t>
            </a:r>
            <a:endParaRPr lang="en-US" sz="1250" dirty="0"/>
          </a:p>
        </p:txBody>
      </p:sp>
      <p:sp>
        <p:nvSpPr>
          <p:cNvPr id="25" name="Text 23"/>
          <p:cNvSpPr/>
          <p:nvPr/>
        </p:nvSpPr>
        <p:spPr>
          <a:xfrm>
            <a:off x="4700016" y="169164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Fully connected Dense layer</a:t>
            </a:r>
            <a:endParaRPr lang="en-US" sz="1150" dirty="0"/>
          </a:p>
        </p:txBody>
      </p:sp>
      <p:sp>
        <p:nvSpPr>
          <p:cNvPr id="26" name="Text 24"/>
          <p:cNvSpPr/>
          <p:nvPr/>
        </p:nvSpPr>
        <p:spPr>
          <a:xfrm>
            <a:off x="4700016" y="219456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Softmax activation</a:t>
            </a:r>
            <a:endParaRPr lang="en-US" sz="1150" dirty="0"/>
          </a:p>
        </p:txBody>
      </p:sp>
      <p:sp>
        <p:nvSpPr>
          <p:cNvPr id="27" name="Text 25"/>
          <p:cNvSpPr/>
          <p:nvPr/>
        </p:nvSpPr>
        <p:spPr>
          <a:xfrm>
            <a:off x="4700016" y="269748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Output: 4 class probabilities</a:t>
            </a:r>
            <a:endParaRPr lang="en-US" sz="1150" dirty="0"/>
          </a:p>
        </p:txBody>
      </p:sp>
      <p:sp>
        <p:nvSpPr>
          <p:cNvPr id="28" name="Text 26"/>
          <p:cNvSpPr/>
          <p:nvPr/>
        </p:nvSpPr>
        <p:spPr>
          <a:xfrm>
            <a:off x="4700016" y="320040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Cataract | DR | Glaucoma | Normal</a:t>
            </a:r>
            <a:endParaRPr lang="en-US" sz="1150" dirty="0"/>
          </a:p>
        </p:txBody>
      </p:sp>
      <p:sp>
        <p:nvSpPr>
          <p:cNvPr id="29" name="Shape 27"/>
          <p:cNvSpPr/>
          <p:nvPr/>
        </p:nvSpPr>
        <p:spPr>
          <a:xfrm>
            <a:off x="6638544" y="2816352"/>
            <a:ext cx="128016" cy="128016"/>
          </a:xfrm>
          <a:prstGeom prst="rect">
            <a:avLst/>
          </a:prstGeom>
          <a:solidFill>
            <a:srgbClr val="2EC4B6"/>
          </a:solidFill>
          <a:ln/>
        </p:spPr>
        <p:txBody>
          <a:bodyPr/>
          <a:lstStyle/>
          <a:p>
            <a:endParaRPr lang="en-US"/>
          </a:p>
        </p:txBody>
      </p:sp>
      <p:sp>
        <p:nvSpPr>
          <p:cNvPr id="30" name="Shape 28"/>
          <p:cNvSpPr/>
          <p:nvPr/>
        </p:nvSpPr>
        <p:spPr>
          <a:xfrm>
            <a:off x="6784848" y="1115568"/>
            <a:ext cx="2011680" cy="3474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31" name="Shape 29"/>
          <p:cNvSpPr/>
          <p:nvPr/>
        </p:nvSpPr>
        <p:spPr>
          <a:xfrm>
            <a:off x="6784848" y="1115568"/>
            <a:ext cx="2011680" cy="475488"/>
          </a:xfrm>
          <a:prstGeom prst="rect">
            <a:avLst/>
          </a:prstGeom>
          <a:solidFill>
            <a:srgbClr val="D97706"/>
          </a:solidFill>
          <a:ln/>
        </p:spPr>
        <p:txBody>
          <a:bodyPr/>
          <a:lstStyle/>
          <a:p>
            <a:endParaRPr lang="en-US"/>
          </a:p>
        </p:txBody>
      </p:sp>
      <p:sp>
        <p:nvSpPr>
          <p:cNvPr id="32" name="Text 30"/>
          <p:cNvSpPr/>
          <p:nvPr/>
        </p:nvSpPr>
        <p:spPr>
          <a:xfrm>
            <a:off x="6830568" y="1115568"/>
            <a:ext cx="192024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Regression Head</a:t>
            </a:r>
            <a:endParaRPr lang="en-US" sz="1250" dirty="0"/>
          </a:p>
        </p:txBody>
      </p:sp>
      <p:sp>
        <p:nvSpPr>
          <p:cNvPr id="33" name="Text 31"/>
          <p:cNvSpPr/>
          <p:nvPr/>
        </p:nvSpPr>
        <p:spPr>
          <a:xfrm>
            <a:off x="6876288" y="169164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Separate Dense branch</a:t>
            </a:r>
            <a:endParaRPr lang="en-US" sz="1150" dirty="0"/>
          </a:p>
        </p:txBody>
      </p:sp>
      <p:sp>
        <p:nvSpPr>
          <p:cNvPr id="34" name="Text 32"/>
          <p:cNvSpPr/>
          <p:nvPr/>
        </p:nvSpPr>
        <p:spPr>
          <a:xfrm>
            <a:off x="6876288" y="219456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Sigmoid / linear output</a:t>
            </a:r>
            <a:endParaRPr lang="en-US" sz="1150" dirty="0"/>
          </a:p>
        </p:txBody>
      </p:sp>
      <p:sp>
        <p:nvSpPr>
          <p:cNvPr id="35" name="Text 33"/>
          <p:cNvSpPr/>
          <p:nvPr/>
        </p:nvSpPr>
        <p:spPr>
          <a:xfrm>
            <a:off x="6876288" y="269748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Severity = clip((raw+1)/2, 0, 1)</a:t>
            </a:r>
            <a:endParaRPr lang="en-US" sz="1150" dirty="0"/>
          </a:p>
        </p:txBody>
      </p:sp>
      <p:sp>
        <p:nvSpPr>
          <p:cNvPr id="36" name="Text 34"/>
          <p:cNvSpPr/>
          <p:nvPr/>
        </p:nvSpPr>
        <p:spPr>
          <a:xfrm>
            <a:off x="6876288" y="320040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0 = healthy → 1 = most severe</a:t>
            </a:r>
            <a:endParaRPr lang="en-US" sz="1150" dirty="0"/>
          </a:p>
        </p:txBody>
      </p:sp>
      <p:sp>
        <p:nvSpPr>
          <p:cNvPr id="37" name="Shape 35"/>
          <p:cNvSpPr/>
          <p:nvPr/>
        </p:nvSpPr>
        <p:spPr>
          <a:xfrm>
            <a:off x="256032" y="4681728"/>
            <a:ext cx="8613648" cy="475488"/>
          </a:xfrm>
          <a:prstGeom prst="rect">
            <a:avLst/>
          </a:prstGeom>
          <a:solidFill>
            <a:srgbClr val="FFF8E1"/>
          </a:solidFill>
          <a:ln w="15240">
            <a:solidFill>
              <a:srgbClr val="D97706"/>
            </a:solidFill>
            <a:prstDash val="solid"/>
          </a:ln>
          <a:effectLst>
            <a:outerShdw blurRad="88900" dist="38100" dir="8100000" algn="bl" rotWithShape="0">
              <a:srgbClr val="000000">
                <a:alpha val="13000"/>
              </a:srgbClr>
            </a:outerShdw>
          </a:effectLst>
        </p:spPr>
        <p:txBody>
          <a:bodyPr/>
          <a:lstStyle/>
          <a:p>
            <a:endParaRPr lang="en-US"/>
          </a:p>
        </p:txBody>
      </p:sp>
      <p:sp>
        <p:nvSpPr>
          <p:cNvPr id="38" name="Text 36"/>
          <p:cNvSpPr/>
          <p:nvPr/>
        </p:nvSpPr>
        <p:spPr>
          <a:xfrm>
            <a:off x="384048" y="4718304"/>
            <a:ext cx="1737360" cy="320040"/>
          </a:xfrm>
          <a:prstGeom prst="rect">
            <a:avLst/>
          </a:prstGeom>
          <a:noFill/>
          <a:ln/>
        </p:spPr>
        <p:txBody>
          <a:bodyPr wrap="square" lIns="0" tIns="0" rIns="0" bIns="0" rtlCol="0" anchor="ctr"/>
          <a:lstStyle/>
          <a:p>
            <a:pPr marL="0" indent="0">
              <a:buNone/>
            </a:pPr>
            <a:r>
              <a:rPr lang="en-US" sz="1250" b="1" dirty="0">
                <a:solidFill>
                  <a:srgbClr val="D97706"/>
                </a:solidFill>
                <a:latin typeface="Calibri" pitchFamily="34" charset="0"/>
                <a:ea typeface="Calibri" pitchFamily="34" charset="-122"/>
                <a:cs typeface="Calibri" pitchFamily="34" charset="-120"/>
              </a:rPr>
              <a:t>Loss Functions:</a:t>
            </a:r>
            <a:endParaRPr lang="en-US" sz="1250" dirty="0"/>
          </a:p>
        </p:txBody>
      </p:sp>
      <p:sp>
        <p:nvSpPr>
          <p:cNvPr id="39" name="Text 37"/>
          <p:cNvSpPr/>
          <p:nvPr/>
        </p:nvSpPr>
        <p:spPr>
          <a:xfrm>
            <a:off x="2194560" y="4718304"/>
            <a:ext cx="6492240"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Classification → Categorical Cross-Entropy     |     Severity Regression → Mean Squared Error (MSE)     |     Total Loss = weighted sum of both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Implementation — Preprocessing &amp; Key Formulas</a:t>
            </a:r>
            <a:endParaRPr lang="en-US" sz="2700" dirty="0"/>
          </a:p>
        </p:txBody>
      </p:sp>
      <p:sp>
        <p:nvSpPr>
          <p:cNvPr id="5" name="Shape 3"/>
          <p:cNvSpPr/>
          <p:nvPr/>
        </p:nvSpPr>
        <p:spPr>
          <a:xfrm>
            <a:off x="274320" y="1115568"/>
            <a:ext cx="4160520" cy="35204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74320" y="1115568"/>
            <a:ext cx="4160520" cy="411480"/>
          </a:xfrm>
          <a:prstGeom prst="rect">
            <a:avLst/>
          </a:prstGeom>
          <a:solidFill>
            <a:srgbClr val="1A7A9A"/>
          </a:solidFill>
          <a:ln/>
        </p:spPr>
        <p:txBody>
          <a:bodyPr/>
          <a:lstStyle/>
          <a:p>
            <a:endParaRPr lang="en-US"/>
          </a:p>
        </p:txBody>
      </p:sp>
      <p:sp>
        <p:nvSpPr>
          <p:cNvPr id="7" name="Text 5"/>
          <p:cNvSpPr/>
          <p:nvPr/>
        </p:nvSpPr>
        <p:spPr>
          <a:xfrm>
            <a:off x="320040" y="1115568"/>
            <a:ext cx="4069080" cy="411480"/>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Image Preprocessing Pipeline</a:t>
            </a:r>
            <a:endParaRPr lang="en-US" sz="1400" dirty="0"/>
          </a:p>
        </p:txBody>
      </p:sp>
      <p:sp>
        <p:nvSpPr>
          <p:cNvPr id="8" name="Shape 6"/>
          <p:cNvSpPr/>
          <p:nvPr/>
        </p:nvSpPr>
        <p:spPr>
          <a:xfrm>
            <a:off x="384048" y="1645920"/>
            <a:ext cx="1005840" cy="347472"/>
          </a:xfrm>
          <a:prstGeom prst="rect">
            <a:avLst/>
          </a:prstGeom>
          <a:solidFill>
            <a:srgbClr val="0B2545"/>
          </a:solidFill>
          <a:ln/>
        </p:spPr>
        <p:txBody>
          <a:bodyPr/>
          <a:lstStyle/>
          <a:p>
            <a:endParaRPr lang="en-US"/>
          </a:p>
        </p:txBody>
      </p:sp>
      <p:sp>
        <p:nvSpPr>
          <p:cNvPr id="9" name="Text 7"/>
          <p:cNvSpPr/>
          <p:nvPr/>
        </p:nvSpPr>
        <p:spPr>
          <a:xfrm>
            <a:off x="384048" y="1645920"/>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1</a:t>
            </a:r>
            <a:endParaRPr lang="en-US" sz="1100" dirty="0"/>
          </a:p>
        </p:txBody>
      </p:sp>
      <p:sp>
        <p:nvSpPr>
          <p:cNvPr id="10" name="Text 8"/>
          <p:cNvSpPr/>
          <p:nvPr/>
        </p:nvSpPr>
        <p:spPr>
          <a:xfrm>
            <a:off x="1463040" y="1645920"/>
            <a:ext cx="2834640" cy="34747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Read uploaded fundus image from Streamlit file uploader</a:t>
            </a:r>
            <a:endParaRPr lang="en-US" sz="1150" dirty="0"/>
          </a:p>
        </p:txBody>
      </p:sp>
      <p:sp>
        <p:nvSpPr>
          <p:cNvPr id="11" name="Shape 9"/>
          <p:cNvSpPr/>
          <p:nvPr/>
        </p:nvSpPr>
        <p:spPr>
          <a:xfrm>
            <a:off x="384048" y="2212848"/>
            <a:ext cx="1005840" cy="347472"/>
          </a:xfrm>
          <a:prstGeom prst="rect">
            <a:avLst/>
          </a:prstGeom>
          <a:solidFill>
            <a:srgbClr val="0B2545"/>
          </a:solidFill>
          <a:ln/>
        </p:spPr>
        <p:txBody>
          <a:bodyPr/>
          <a:lstStyle/>
          <a:p>
            <a:endParaRPr lang="en-US"/>
          </a:p>
        </p:txBody>
      </p:sp>
      <p:sp>
        <p:nvSpPr>
          <p:cNvPr id="12" name="Text 10"/>
          <p:cNvSpPr/>
          <p:nvPr/>
        </p:nvSpPr>
        <p:spPr>
          <a:xfrm>
            <a:off x="384048" y="2212848"/>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2</a:t>
            </a:r>
            <a:endParaRPr lang="en-US" sz="1100" dirty="0"/>
          </a:p>
        </p:txBody>
      </p:sp>
      <p:sp>
        <p:nvSpPr>
          <p:cNvPr id="13" name="Text 11"/>
          <p:cNvSpPr/>
          <p:nvPr/>
        </p:nvSpPr>
        <p:spPr>
          <a:xfrm>
            <a:off x="1463040" y="2212848"/>
            <a:ext cx="2834640" cy="34747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Convert to RGB to ensure consistent 3-channel colour space</a:t>
            </a:r>
            <a:endParaRPr lang="en-US" sz="1150" dirty="0"/>
          </a:p>
        </p:txBody>
      </p:sp>
      <p:sp>
        <p:nvSpPr>
          <p:cNvPr id="14" name="Shape 12"/>
          <p:cNvSpPr/>
          <p:nvPr/>
        </p:nvSpPr>
        <p:spPr>
          <a:xfrm>
            <a:off x="384048" y="2779776"/>
            <a:ext cx="1005840" cy="347472"/>
          </a:xfrm>
          <a:prstGeom prst="rect">
            <a:avLst/>
          </a:prstGeom>
          <a:solidFill>
            <a:srgbClr val="0B2545"/>
          </a:solidFill>
          <a:ln/>
        </p:spPr>
        <p:txBody>
          <a:bodyPr/>
          <a:lstStyle/>
          <a:p>
            <a:endParaRPr lang="en-US"/>
          </a:p>
        </p:txBody>
      </p:sp>
      <p:sp>
        <p:nvSpPr>
          <p:cNvPr id="15" name="Text 13"/>
          <p:cNvSpPr/>
          <p:nvPr/>
        </p:nvSpPr>
        <p:spPr>
          <a:xfrm>
            <a:off x="384048" y="2779776"/>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3</a:t>
            </a:r>
            <a:endParaRPr lang="en-US" sz="1100" dirty="0"/>
          </a:p>
        </p:txBody>
      </p:sp>
      <p:sp>
        <p:nvSpPr>
          <p:cNvPr id="16" name="Text 14"/>
          <p:cNvSpPr/>
          <p:nvPr/>
        </p:nvSpPr>
        <p:spPr>
          <a:xfrm>
            <a:off x="1463040" y="2779776"/>
            <a:ext cx="2834640" cy="34747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Resize to 224 × 224 pixels to match model input requirements</a:t>
            </a:r>
            <a:endParaRPr lang="en-US" sz="1150" dirty="0"/>
          </a:p>
        </p:txBody>
      </p:sp>
      <p:sp>
        <p:nvSpPr>
          <p:cNvPr id="17" name="Shape 15"/>
          <p:cNvSpPr/>
          <p:nvPr/>
        </p:nvSpPr>
        <p:spPr>
          <a:xfrm>
            <a:off x="384048" y="3346704"/>
            <a:ext cx="1005840" cy="347472"/>
          </a:xfrm>
          <a:prstGeom prst="rect">
            <a:avLst/>
          </a:prstGeom>
          <a:solidFill>
            <a:srgbClr val="0B2545"/>
          </a:solidFill>
          <a:ln/>
        </p:spPr>
        <p:txBody>
          <a:bodyPr/>
          <a:lstStyle/>
          <a:p>
            <a:endParaRPr lang="en-US"/>
          </a:p>
        </p:txBody>
      </p:sp>
      <p:sp>
        <p:nvSpPr>
          <p:cNvPr id="18" name="Text 16"/>
          <p:cNvSpPr/>
          <p:nvPr/>
        </p:nvSpPr>
        <p:spPr>
          <a:xfrm>
            <a:off x="384048" y="3346704"/>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4</a:t>
            </a:r>
            <a:endParaRPr lang="en-US" sz="1100" dirty="0"/>
          </a:p>
        </p:txBody>
      </p:sp>
      <p:sp>
        <p:nvSpPr>
          <p:cNvPr id="19" name="Text 17"/>
          <p:cNvSpPr/>
          <p:nvPr/>
        </p:nvSpPr>
        <p:spPr>
          <a:xfrm>
            <a:off x="1463040" y="3346704"/>
            <a:ext cx="2834640" cy="34747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Normalize pixel values: divide each channel value by 255 → range [0, 1]</a:t>
            </a:r>
            <a:endParaRPr lang="en-US" sz="1150" dirty="0"/>
          </a:p>
        </p:txBody>
      </p:sp>
      <p:sp>
        <p:nvSpPr>
          <p:cNvPr id="20" name="Shape 18"/>
          <p:cNvSpPr/>
          <p:nvPr/>
        </p:nvSpPr>
        <p:spPr>
          <a:xfrm>
            <a:off x="384048" y="3913632"/>
            <a:ext cx="1005840" cy="347472"/>
          </a:xfrm>
          <a:prstGeom prst="rect">
            <a:avLst/>
          </a:prstGeom>
          <a:solidFill>
            <a:srgbClr val="0B2545"/>
          </a:solidFill>
          <a:ln/>
        </p:spPr>
        <p:txBody>
          <a:bodyPr/>
          <a:lstStyle/>
          <a:p>
            <a:endParaRPr lang="en-US"/>
          </a:p>
        </p:txBody>
      </p:sp>
      <p:sp>
        <p:nvSpPr>
          <p:cNvPr id="21" name="Text 19"/>
          <p:cNvSpPr/>
          <p:nvPr/>
        </p:nvSpPr>
        <p:spPr>
          <a:xfrm>
            <a:off x="384048" y="3913632"/>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5</a:t>
            </a:r>
            <a:endParaRPr lang="en-US" sz="1100" dirty="0"/>
          </a:p>
        </p:txBody>
      </p:sp>
      <p:sp>
        <p:nvSpPr>
          <p:cNvPr id="22" name="Text 20"/>
          <p:cNvSpPr/>
          <p:nvPr/>
        </p:nvSpPr>
        <p:spPr>
          <a:xfrm>
            <a:off x="1463040" y="3913632"/>
            <a:ext cx="2834640" cy="34747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Expand batch dimension: shape (224,224,3) → (1,224,224,3) for model inference</a:t>
            </a:r>
            <a:endParaRPr lang="en-US" sz="1150" dirty="0"/>
          </a:p>
        </p:txBody>
      </p:sp>
      <p:sp>
        <p:nvSpPr>
          <p:cNvPr id="23" name="Shape 21"/>
          <p:cNvSpPr/>
          <p:nvPr/>
        </p:nvSpPr>
        <p:spPr>
          <a:xfrm>
            <a:off x="4663440" y="1115567"/>
            <a:ext cx="4206240" cy="3702617"/>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4" name="Shape 22"/>
          <p:cNvSpPr/>
          <p:nvPr/>
        </p:nvSpPr>
        <p:spPr>
          <a:xfrm>
            <a:off x="4663440" y="1115568"/>
            <a:ext cx="4206240" cy="411480"/>
          </a:xfrm>
          <a:prstGeom prst="rect">
            <a:avLst/>
          </a:prstGeom>
          <a:solidFill>
            <a:srgbClr val="0B2545"/>
          </a:solidFill>
          <a:ln/>
        </p:spPr>
        <p:txBody>
          <a:bodyPr/>
          <a:lstStyle/>
          <a:p>
            <a:endParaRPr lang="en-US"/>
          </a:p>
        </p:txBody>
      </p:sp>
      <p:sp>
        <p:nvSpPr>
          <p:cNvPr id="25" name="Text 23"/>
          <p:cNvSpPr/>
          <p:nvPr/>
        </p:nvSpPr>
        <p:spPr>
          <a:xfrm>
            <a:off x="4709160" y="1115568"/>
            <a:ext cx="4114800" cy="411480"/>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Mathematical Formulation</a:t>
            </a:r>
            <a:endParaRPr lang="en-US" sz="1400" dirty="0"/>
          </a:p>
        </p:txBody>
      </p:sp>
      <p:sp>
        <p:nvSpPr>
          <p:cNvPr id="26" name="Text 24"/>
          <p:cNvSpPr/>
          <p:nvPr/>
        </p:nvSpPr>
        <p:spPr>
          <a:xfrm>
            <a:off x="4773168" y="1664208"/>
            <a:ext cx="3977640" cy="256032"/>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Softmax (Classification Output)</a:t>
            </a:r>
            <a:endParaRPr lang="en-US" sz="1200" dirty="0"/>
          </a:p>
        </p:txBody>
      </p:sp>
      <p:sp>
        <p:nvSpPr>
          <p:cNvPr id="27" name="Shape 25"/>
          <p:cNvSpPr/>
          <p:nvPr/>
        </p:nvSpPr>
        <p:spPr>
          <a:xfrm>
            <a:off x="4773168" y="1920240"/>
            <a:ext cx="3977640" cy="256032"/>
          </a:xfrm>
          <a:prstGeom prst="rect">
            <a:avLst/>
          </a:prstGeom>
          <a:solidFill>
            <a:srgbClr val="0B2545"/>
          </a:solidFill>
          <a:ln/>
        </p:spPr>
        <p:txBody>
          <a:bodyPr/>
          <a:lstStyle/>
          <a:p>
            <a:endParaRPr lang="en-US"/>
          </a:p>
        </p:txBody>
      </p:sp>
      <p:sp>
        <p:nvSpPr>
          <p:cNvPr id="28" name="Text 26"/>
          <p:cNvSpPr/>
          <p:nvPr/>
        </p:nvSpPr>
        <p:spPr>
          <a:xfrm>
            <a:off x="4773168" y="1920240"/>
            <a:ext cx="3977640" cy="256032"/>
          </a:xfrm>
          <a:prstGeom prst="rect">
            <a:avLst/>
          </a:prstGeom>
          <a:noFill/>
          <a:ln/>
        </p:spPr>
        <p:txBody>
          <a:bodyPr wrap="square" lIns="0" tIns="0" rIns="0" bIns="0" rtlCol="0" anchor="ctr"/>
          <a:lstStyle/>
          <a:p>
            <a:pPr marL="0" indent="0" algn="ctr">
              <a:buNone/>
            </a:pPr>
            <a:r>
              <a:rPr lang="en-US" sz="1200" b="1" dirty="0">
                <a:solidFill>
                  <a:srgbClr val="2EC4B6"/>
                </a:solidFill>
                <a:latin typeface="Consolas" pitchFamily="34" charset="0"/>
                <a:ea typeface="Consolas" pitchFamily="34" charset="-122"/>
                <a:cs typeface="Consolas" pitchFamily="34" charset="-120"/>
              </a:rPr>
              <a:t>P(classᵢ) = e^zᵢ  /  Σⱼ e^zⱼ</a:t>
            </a:r>
            <a:endParaRPr lang="en-US" sz="1200" dirty="0"/>
          </a:p>
        </p:txBody>
      </p:sp>
      <p:sp>
        <p:nvSpPr>
          <p:cNvPr id="29" name="Text 27"/>
          <p:cNvSpPr/>
          <p:nvPr/>
        </p:nvSpPr>
        <p:spPr>
          <a:xfrm>
            <a:off x="4773168" y="2194560"/>
            <a:ext cx="3986784" cy="256032"/>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Converts raw network scores into probabilities that sum to 1. The class with the highest probability is the final prediction.</a:t>
            </a:r>
            <a:endParaRPr lang="en-US" sz="1050" dirty="0"/>
          </a:p>
        </p:txBody>
      </p:sp>
      <p:sp>
        <p:nvSpPr>
          <p:cNvPr id="30" name="Text 28"/>
          <p:cNvSpPr/>
          <p:nvPr/>
        </p:nvSpPr>
        <p:spPr>
          <a:xfrm>
            <a:off x="4773168" y="2414016"/>
            <a:ext cx="3977640" cy="256032"/>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Severity Normalization</a:t>
            </a:r>
            <a:endParaRPr lang="en-US" sz="1200" dirty="0"/>
          </a:p>
        </p:txBody>
      </p:sp>
      <p:sp>
        <p:nvSpPr>
          <p:cNvPr id="31" name="Shape 29"/>
          <p:cNvSpPr/>
          <p:nvPr/>
        </p:nvSpPr>
        <p:spPr>
          <a:xfrm>
            <a:off x="4773168" y="2670048"/>
            <a:ext cx="3977640" cy="256032"/>
          </a:xfrm>
          <a:prstGeom prst="rect">
            <a:avLst/>
          </a:prstGeom>
          <a:solidFill>
            <a:srgbClr val="0B2545"/>
          </a:solidFill>
          <a:ln/>
        </p:spPr>
        <p:txBody>
          <a:bodyPr/>
          <a:lstStyle/>
          <a:p>
            <a:endParaRPr lang="en-US"/>
          </a:p>
        </p:txBody>
      </p:sp>
      <p:sp>
        <p:nvSpPr>
          <p:cNvPr id="32" name="Text 30"/>
          <p:cNvSpPr/>
          <p:nvPr/>
        </p:nvSpPr>
        <p:spPr>
          <a:xfrm>
            <a:off x="4773168" y="2706624"/>
            <a:ext cx="3977640" cy="219456"/>
          </a:xfrm>
          <a:prstGeom prst="rect">
            <a:avLst/>
          </a:prstGeom>
          <a:noFill/>
          <a:ln/>
        </p:spPr>
        <p:txBody>
          <a:bodyPr wrap="square" lIns="0" tIns="0" rIns="0" bIns="0" rtlCol="0" anchor="ctr"/>
          <a:lstStyle/>
          <a:p>
            <a:pPr marL="0" indent="0" algn="ctr">
              <a:buNone/>
            </a:pPr>
            <a:r>
              <a:rPr lang="en-US" sz="1100" b="1" dirty="0">
                <a:solidFill>
                  <a:srgbClr val="2EC4B6"/>
                </a:solidFill>
                <a:latin typeface="Consolas" pitchFamily="34" charset="0"/>
                <a:ea typeface="Consolas" pitchFamily="34" charset="-122"/>
                <a:cs typeface="Consolas" pitchFamily="34" charset="-120"/>
              </a:rPr>
              <a:t>Severity  =  clip( (raw_output + 1) / 2,  0,  1 )</a:t>
            </a:r>
            <a:endParaRPr lang="en-US" sz="1100" dirty="0"/>
          </a:p>
        </p:txBody>
      </p:sp>
      <p:sp>
        <p:nvSpPr>
          <p:cNvPr id="33" name="Text 31"/>
          <p:cNvSpPr/>
          <p:nvPr/>
        </p:nvSpPr>
        <p:spPr>
          <a:xfrm>
            <a:off x="4773168" y="2944368"/>
            <a:ext cx="4096512" cy="256032"/>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Maps raw regression output (any range) into a clean 0–1 scale, where 0 means healthy and 1 means most severe.</a:t>
            </a:r>
            <a:endParaRPr lang="en-US" sz="1050" dirty="0"/>
          </a:p>
        </p:txBody>
      </p:sp>
      <p:sp>
        <p:nvSpPr>
          <p:cNvPr id="34" name="Text 32"/>
          <p:cNvSpPr/>
          <p:nvPr/>
        </p:nvSpPr>
        <p:spPr>
          <a:xfrm>
            <a:off x="4773168" y="3163824"/>
            <a:ext cx="3977640" cy="256032"/>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Categorical Cross-Entropy</a:t>
            </a:r>
            <a:endParaRPr lang="en-US" sz="1200" dirty="0"/>
          </a:p>
        </p:txBody>
      </p:sp>
      <p:sp>
        <p:nvSpPr>
          <p:cNvPr id="35" name="Shape 33"/>
          <p:cNvSpPr/>
          <p:nvPr/>
        </p:nvSpPr>
        <p:spPr>
          <a:xfrm>
            <a:off x="4773168" y="3419856"/>
            <a:ext cx="3977640" cy="256032"/>
          </a:xfrm>
          <a:prstGeom prst="rect">
            <a:avLst/>
          </a:prstGeom>
          <a:solidFill>
            <a:srgbClr val="0B2545"/>
          </a:solidFill>
          <a:ln/>
        </p:spPr>
        <p:txBody>
          <a:bodyPr/>
          <a:lstStyle/>
          <a:p>
            <a:endParaRPr lang="en-US"/>
          </a:p>
        </p:txBody>
      </p:sp>
      <p:sp>
        <p:nvSpPr>
          <p:cNvPr id="36" name="Text 34"/>
          <p:cNvSpPr/>
          <p:nvPr/>
        </p:nvSpPr>
        <p:spPr>
          <a:xfrm>
            <a:off x="4773168" y="3419856"/>
            <a:ext cx="3977640" cy="256032"/>
          </a:xfrm>
          <a:prstGeom prst="rect">
            <a:avLst/>
          </a:prstGeom>
          <a:noFill/>
          <a:ln/>
        </p:spPr>
        <p:txBody>
          <a:bodyPr wrap="square" lIns="0" tIns="0" rIns="0" bIns="0" rtlCol="0" anchor="ctr"/>
          <a:lstStyle/>
          <a:p>
            <a:pPr marL="0" indent="0" algn="ctr">
              <a:buNone/>
            </a:pPr>
            <a:r>
              <a:rPr lang="en-US" sz="1200" b="1" dirty="0">
                <a:solidFill>
                  <a:srgbClr val="2EC4B6"/>
                </a:solidFill>
                <a:latin typeface="Consolas" pitchFamily="34" charset="0"/>
                <a:ea typeface="Consolas" pitchFamily="34" charset="-122"/>
                <a:cs typeface="Consolas" pitchFamily="34" charset="-120"/>
              </a:rPr>
              <a:t>L_class  =  − Σᵢ yᵢ · log(ŷᵢ)</a:t>
            </a:r>
            <a:endParaRPr lang="en-US" sz="1200" dirty="0"/>
          </a:p>
        </p:txBody>
      </p:sp>
      <p:sp>
        <p:nvSpPr>
          <p:cNvPr id="37" name="Text 35"/>
          <p:cNvSpPr/>
          <p:nvPr/>
        </p:nvSpPr>
        <p:spPr>
          <a:xfrm>
            <a:off x="4773168" y="3694176"/>
            <a:ext cx="4050792" cy="256032"/>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Penalizes the model when predicted class probabilities differ from the true one-hot label vector.</a:t>
            </a:r>
            <a:endParaRPr lang="en-US" sz="1050" dirty="0"/>
          </a:p>
        </p:txBody>
      </p:sp>
      <p:sp>
        <p:nvSpPr>
          <p:cNvPr id="38" name="Text 36"/>
          <p:cNvSpPr/>
          <p:nvPr/>
        </p:nvSpPr>
        <p:spPr>
          <a:xfrm>
            <a:off x="4773168" y="3913632"/>
            <a:ext cx="3977640" cy="256032"/>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Mean Squared Error (Severity)</a:t>
            </a:r>
            <a:endParaRPr lang="en-US" sz="1200" dirty="0"/>
          </a:p>
        </p:txBody>
      </p:sp>
      <p:sp>
        <p:nvSpPr>
          <p:cNvPr id="39" name="Shape 37"/>
          <p:cNvSpPr/>
          <p:nvPr/>
        </p:nvSpPr>
        <p:spPr>
          <a:xfrm>
            <a:off x="4773168" y="4169664"/>
            <a:ext cx="3977640" cy="256032"/>
          </a:xfrm>
          <a:prstGeom prst="rect">
            <a:avLst/>
          </a:prstGeom>
          <a:solidFill>
            <a:srgbClr val="0B2545"/>
          </a:solidFill>
          <a:ln/>
        </p:spPr>
        <p:txBody>
          <a:bodyPr/>
          <a:lstStyle/>
          <a:p>
            <a:endParaRPr lang="en-US"/>
          </a:p>
        </p:txBody>
      </p:sp>
      <p:sp>
        <p:nvSpPr>
          <p:cNvPr id="40" name="Text 38"/>
          <p:cNvSpPr/>
          <p:nvPr/>
        </p:nvSpPr>
        <p:spPr>
          <a:xfrm>
            <a:off x="4773168" y="4169664"/>
            <a:ext cx="3977640" cy="256032"/>
          </a:xfrm>
          <a:prstGeom prst="rect">
            <a:avLst/>
          </a:prstGeom>
          <a:noFill/>
          <a:ln/>
        </p:spPr>
        <p:txBody>
          <a:bodyPr wrap="square" lIns="0" tIns="0" rIns="0" bIns="0" rtlCol="0" anchor="ctr"/>
          <a:lstStyle/>
          <a:p>
            <a:pPr marL="0" indent="0" algn="ctr">
              <a:buNone/>
            </a:pPr>
            <a:r>
              <a:rPr lang="en-US" sz="1200" b="1" dirty="0">
                <a:solidFill>
                  <a:srgbClr val="2EC4B6"/>
                </a:solidFill>
                <a:latin typeface="Consolas" pitchFamily="34" charset="0"/>
                <a:ea typeface="Consolas" pitchFamily="34" charset="-122"/>
                <a:cs typeface="Consolas" pitchFamily="34" charset="-120"/>
              </a:rPr>
              <a:t>L_reg  =  (1/n) · Σ (yᵢ − ŷᵢ)²</a:t>
            </a:r>
            <a:endParaRPr lang="en-US" sz="1200" dirty="0"/>
          </a:p>
        </p:txBody>
      </p:sp>
      <p:sp>
        <p:nvSpPr>
          <p:cNvPr id="41" name="Text 39"/>
          <p:cNvSpPr/>
          <p:nvPr/>
        </p:nvSpPr>
        <p:spPr>
          <a:xfrm>
            <a:off x="4773168" y="4443984"/>
            <a:ext cx="4050792" cy="374200"/>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Measures average squared gap between predicted and actual severity scores; small MSE = good regression.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Implementation — Streamlit Deployment &amp; User Interface</a:t>
            </a:r>
            <a:endParaRPr lang="en-US" sz="2700" dirty="0"/>
          </a:p>
        </p:txBody>
      </p:sp>
      <p:sp>
        <p:nvSpPr>
          <p:cNvPr id="5" name="Shape 3"/>
          <p:cNvSpPr/>
          <p:nvPr/>
        </p:nvSpPr>
        <p:spPr>
          <a:xfrm>
            <a:off x="256032" y="1115568"/>
            <a:ext cx="4059936" cy="171907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56032" y="1115568"/>
            <a:ext cx="4059936" cy="438912"/>
          </a:xfrm>
          <a:prstGeom prst="rect">
            <a:avLst/>
          </a:prstGeom>
          <a:solidFill>
            <a:srgbClr val="0B2545"/>
          </a:solidFill>
          <a:ln/>
        </p:spPr>
        <p:txBody>
          <a:bodyPr/>
          <a:lstStyle/>
          <a:p>
            <a:endParaRPr lang="en-US"/>
          </a:p>
        </p:txBody>
      </p:sp>
      <p:sp>
        <p:nvSpPr>
          <p:cNvPr id="7" name="Text 5"/>
          <p:cNvSpPr/>
          <p:nvPr/>
        </p:nvSpPr>
        <p:spPr>
          <a:xfrm>
            <a:off x="347472" y="1115568"/>
            <a:ext cx="3877056" cy="438912"/>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File Upload</a:t>
            </a:r>
            <a:endParaRPr lang="en-US" sz="1400" dirty="0"/>
          </a:p>
        </p:txBody>
      </p:sp>
      <p:sp>
        <p:nvSpPr>
          <p:cNvPr id="8" name="Text 6"/>
          <p:cNvSpPr/>
          <p:nvPr/>
        </p:nvSpPr>
        <p:spPr>
          <a:xfrm>
            <a:off x="365760" y="1618488"/>
            <a:ext cx="3840480" cy="1143000"/>
          </a:xfrm>
          <a:prstGeom prst="rect">
            <a:avLst/>
          </a:prstGeom>
          <a:noFill/>
          <a:ln/>
        </p:spPr>
        <p:txBody>
          <a:bodyPr wrap="square" lIns="38100" tIns="38100" rIns="38100" bIns="3810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Users (doctors, technicians, or patients) simply click 'Browse' and upload any JPEG/PNG fundus image — no coding or installation needed.</a:t>
            </a:r>
            <a:endParaRPr lang="en-US" sz="1250" dirty="0"/>
          </a:p>
        </p:txBody>
      </p:sp>
      <p:sp>
        <p:nvSpPr>
          <p:cNvPr id="9" name="Shape 7"/>
          <p:cNvSpPr/>
          <p:nvPr/>
        </p:nvSpPr>
        <p:spPr>
          <a:xfrm>
            <a:off x="4572000" y="1115568"/>
            <a:ext cx="4059936" cy="171907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4572000" y="1115568"/>
            <a:ext cx="4059936" cy="438912"/>
          </a:xfrm>
          <a:prstGeom prst="rect">
            <a:avLst/>
          </a:prstGeom>
          <a:solidFill>
            <a:srgbClr val="1A7A9A"/>
          </a:solidFill>
          <a:ln/>
        </p:spPr>
        <p:txBody>
          <a:bodyPr/>
          <a:lstStyle/>
          <a:p>
            <a:endParaRPr lang="en-US"/>
          </a:p>
        </p:txBody>
      </p:sp>
      <p:sp>
        <p:nvSpPr>
          <p:cNvPr id="11" name="Text 9"/>
          <p:cNvSpPr/>
          <p:nvPr/>
        </p:nvSpPr>
        <p:spPr>
          <a:xfrm>
            <a:off x="4663440" y="1115568"/>
            <a:ext cx="3877056" cy="438912"/>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Live Inference</a:t>
            </a:r>
            <a:endParaRPr lang="en-US" sz="1400" dirty="0"/>
          </a:p>
        </p:txBody>
      </p:sp>
      <p:sp>
        <p:nvSpPr>
          <p:cNvPr id="12" name="Text 10"/>
          <p:cNvSpPr/>
          <p:nvPr/>
        </p:nvSpPr>
        <p:spPr>
          <a:xfrm>
            <a:off x="4681728" y="1618488"/>
            <a:ext cx="3840480" cy="1143000"/>
          </a:xfrm>
          <a:prstGeom prst="rect">
            <a:avLst/>
          </a:prstGeom>
          <a:noFill/>
          <a:ln/>
        </p:spPr>
        <p:txBody>
          <a:bodyPr wrap="square" lIns="38100" tIns="38100" rIns="38100" bIns="3810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The uploaded image is instantly preprocessed and passed through the model. The entire inference cycle completes in under two seconds on standard hardware.</a:t>
            </a:r>
            <a:endParaRPr lang="en-US" sz="1250" dirty="0"/>
          </a:p>
        </p:txBody>
      </p:sp>
      <p:sp>
        <p:nvSpPr>
          <p:cNvPr id="13" name="Shape 11"/>
          <p:cNvSpPr/>
          <p:nvPr/>
        </p:nvSpPr>
        <p:spPr>
          <a:xfrm>
            <a:off x="256032" y="2990088"/>
            <a:ext cx="4059936" cy="171907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256032" y="2990088"/>
            <a:ext cx="4059936" cy="438912"/>
          </a:xfrm>
          <a:prstGeom prst="rect">
            <a:avLst/>
          </a:prstGeom>
          <a:solidFill>
            <a:srgbClr val="1A8C5B"/>
          </a:solidFill>
          <a:ln/>
        </p:spPr>
        <p:txBody>
          <a:bodyPr/>
          <a:lstStyle/>
          <a:p>
            <a:endParaRPr lang="en-US"/>
          </a:p>
        </p:txBody>
      </p:sp>
      <p:sp>
        <p:nvSpPr>
          <p:cNvPr id="15" name="Text 13"/>
          <p:cNvSpPr/>
          <p:nvPr/>
        </p:nvSpPr>
        <p:spPr>
          <a:xfrm>
            <a:off x="347472" y="2990088"/>
            <a:ext cx="3877056" cy="438912"/>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Results Display</a:t>
            </a:r>
            <a:endParaRPr lang="en-US" sz="1400" dirty="0"/>
          </a:p>
        </p:txBody>
      </p:sp>
      <p:sp>
        <p:nvSpPr>
          <p:cNvPr id="16" name="Text 14"/>
          <p:cNvSpPr/>
          <p:nvPr/>
        </p:nvSpPr>
        <p:spPr>
          <a:xfrm>
            <a:off x="365760" y="3493008"/>
            <a:ext cx="3840480" cy="1143000"/>
          </a:xfrm>
          <a:prstGeom prst="rect">
            <a:avLst/>
          </a:prstGeom>
          <a:noFill/>
          <a:ln/>
        </p:spPr>
        <p:txBody>
          <a:bodyPr wrap="square" lIns="38100" tIns="38100" rIns="38100" bIns="3810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The app shows: predicted disease class, confidence percentage, a severity progress bar (0–1), and a full probability chart for all four classes.</a:t>
            </a:r>
            <a:endParaRPr lang="en-US" sz="1250" dirty="0"/>
          </a:p>
        </p:txBody>
      </p:sp>
      <p:sp>
        <p:nvSpPr>
          <p:cNvPr id="17" name="Shape 15"/>
          <p:cNvSpPr/>
          <p:nvPr/>
        </p:nvSpPr>
        <p:spPr>
          <a:xfrm>
            <a:off x="4572000" y="2990088"/>
            <a:ext cx="4059936" cy="171907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4572000" y="2990088"/>
            <a:ext cx="4059936" cy="438912"/>
          </a:xfrm>
          <a:prstGeom prst="rect">
            <a:avLst/>
          </a:prstGeom>
          <a:solidFill>
            <a:srgbClr val="D97706"/>
          </a:solidFill>
          <a:ln/>
        </p:spPr>
        <p:txBody>
          <a:bodyPr/>
          <a:lstStyle/>
          <a:p>
            <a:endParaRPr lang="en-US"/>
          </a:p>
        </p:txBody>
      </p:sp>
      <p:sp>
        <p:nvSpPr>
          <p:cNvPr id="19" name="Text 17"/>
          <p:cNvSpPr/>
          <p:nvPr/>
        </p:nvSpPr>
        <p:spPr>
          <a:xfrm>
            <a:off x="4663440" y="2990088"/>
            <a:ext cx="3877056" cy="438912"/>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Clinical Advice</a:t>
            </a:r>
            <a:endParaRPr lang="en-US" sz="1400" dirty="0"/>
          </a:p>
        </p:txBody>
      </p:sp>
      <p:sp>
        <p:nvSpPr>
          <p:cNvPr id="20" name="Text 18"/>
          <p:cNvSpPr/>
          <p:nvPr/>
        </p:nvSpPr>
        <p:spPr>
          <a:xfrm>
            <a:off x="4681728" y="3493008"/>
            <a:ext cx="3840480" cy="1143000"/>
          </a:xfrm>
          <a:prstGeom prst="rect">
            <a:avLst/>
          </a:prstGeom>
          <a:noFill/>
          <a:ln/>
        </p:spPr>
        <p:txBody>
          <a:bodyPr wrap="square" lIns="38100" tIns="38100" rIns="38100" bIns="3810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Based on the predicted class and severity score, the system surfaces condition-specific guidance — for example, recommending urgent referral for high-severity DR.</a:t>
            </a:r>
            <a:endParaRPr lang="en-US" sz="1250" dirty="0"/>
          </a:p>
        </p:txBody>
      </p:sp>
      <p:sp>
        <p:nvSpPr>
          <p:cNvPr id="21" name="Shape 19"/>
          <p:cNvSpPr/>
          <p:nvPr/>
        </p:nvSpPr>
        <p:spPr>
          <a:xfrm>
            <a:off x="256032" y="4919472"/>
            <a:ext cx="8631936" cy="429768"/>
          </a:xfrm>
          <a:prstGeom prst="rect">
            <a:avLst/>
          </a:prstGeom>
          <a:solidFill>
            <a:srgbClr val="E8F5E9"/>
          </a:solidFill>
          <a:ln w="15240">
            <a:solidFill>
              <a:srgbClr val="1A8C5B"/>
            </a:solidFill>
            <a:prstDash val="solid"/>
          </a:ln>
          <a:effectLst>
            <a:outerShdw blurRad="88900" dist="38100" dir="8100000" algn="bl" rotWithShape="0">
              <a:srgbClr val="000000">
                <a:alpha val="13000"/>
              </a:srgbClr>
            </a:outerShdw>
          </a:effectLst>
        </p:spPr>
        <p:txBody>
          <a:bodyPr/>
          <a:lstStyle/>
          <a:p>
            <a:endParaRPr lang="en-US"/>
          </a:p>
        </p:txBody>
      </p:sp>
      <p:sp>
        <p:nvSpPr>
          <p:cNvPr id="22" name="Text 20"/>
          <p:cNvSpPr/>
          <p:nvPr/>
        </p:nvSpPr>
        <p:spPr>
          <a:xfrm>
            <a:off x="384048" y="4956048"/>
            <a:ext cx="8321040" cy="347472"/>
          </a:xfrm>
          <a:prstGeom prst="rect">
            <a:avLst/>
          </a:prstGeom>
          <a:noFill/>
          <a:ln/>
        </p:spPr>
        <p:txBody>
          <a:bodyPr wrap="square" lIns="0" tIns="0" rIns="0" bIns="0" rtlCol="0" anchor="ctr"/>
          <a:lstStyle/>
          <a:p>
            <a:pPr marL="0" indent="0">
              <a:buNone/>
            </a:pPr>
            <a:r>
              <a:rPr lang="en-US" sz="1200" i="1" dirty="0">
                <a:solidFill>
                  <a:srgbClr val="1A202C"/>
                </a:solidFill>
                <a:latin typeface="Calibri" pitchFamily="34" charset="0"/>
                <a:ea typeface="Calibri" pitchFamily="34" charset="-122"/>
                <a:cs typeface="Calibri" pitchFamily="34" charset="-120"/>
              </a:rPr>
              <a:t>Why Streamlit? — Lightweight, Python-native, zero-config deployment. Clinicians get a browser-based tool without needing to install anything or write a single line of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Results &amp; Analysis</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115568"/>
          <a:ext cx="5212080" cy="2651760"/>
        </p:xfrm>
        <a:graphic>
          <a:graphicData uri="http://schemas.openxmlformats.org/drawingml/2006/table">
            <a:tbl>
              <a:tblPr/>
              <a:tblGrid>
                <a:gridCol w="1554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4419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419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Cataract</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94.2%</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93.8%</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94.7%</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94.2%</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extLst>
                  <a:ext uri="{0D108BD9-81ED-4DB2-BD59-A6C34878D82A}">
                    <a16:rowId xmlns:a16="http://schemas.microsoft.com/office/drawing/2014/main" val="10001"/>
                  </a:ext>
                </a:extLst>
              </a:tr>
              <a:tr h="4419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Diabetic Retinopathy</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91.5%</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90.9%</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92.1%</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91.5%</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extLst>
                  <a:ext uri="{0D108BD9-81ED-4DB2-BD59-A6C34878D82A}">
                    <a16:rowId xmlns:a16="http://schemas.microsoft.com/office/drawing/2014/main" val="10002"/>
                  </a:ext>
                </a:extLst>
              </a:tr>
              <a:tr h="4419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Glaucoma</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89.7%</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88.5%</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90.8%</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89.6%</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extLst>
                  <a:ext uri="{0D108BD9-81ED-4DB2-BD59-A6C34878D82A}">
                    <a16:rowId xmlns:a16="http://schemas.microsoft.com/office/drawing/2014/main" val="10003"/>
                  </a:ext>
                </a:extLst>
              </a:tr>
              <a:tr h="4419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96.3%</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97.1%</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95.6%</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96.3%</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extLst>
                  <a:ext uri="{0D108BD9-81ED-4DB2-BD59-A6C34878D82A}">
                    <a16:rowId xmlns:a16="http://schemas.microsoft.com/office/drawing/2014/main" val="10004"/>
                  </a:ext>
                </a:extLst>
              </a:tr>
              <a:tr h="441960">
                <a:tc>
                  <a:txBody>
                    <a:bodyPr/>
                    <a:lstStyle/>
                    <a:p>
                      <a:pPr marL="0" indent="0" algn="ctr">
                        <a:buNone/>
                      </a:pPr>
                      <a:r>
                        <a:rPr lang="en-US" sz="1200" b="1" dirty="0">
                          <a:solidFill>
                            <a:srgbClr val="1A7A9A"/>
                          </a:solidFill>
                          <a:latin typeface="Calibri" pitchFamily="34" charset="0"/>
                          <a:ea typeface="Calibri" pitchFamily="34" charset="-122"/>
                          <a:cs typeface="Calibri" pitchFamily="34" charset="-120"/>
                        </a:rPr>
                        <a:t>Overall</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b="1" dirty="0">
                          <a:solidFill>
                            <a:srgbClr val="1A7A9A"/>
                          </a:solidFill>
                          <a:latin typeface="Calibri" pitchFamily="34" charset="0"/>
                          <a:ea typeface="Calibri" pitchFamily="34" charset="-122"/>
                          <a:cs typeface="Calibri" pitchFamily="34" charset="-120"/>
                        </a:rPr>
                        <a:t>92.9%</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b="1" dirty="0">
                          <a:solidFill>
                            <a:srgbClr val="1A7A9A"/>
                          </a:solidFill>
                          <a:latin typeface="Calibri" pitchFamily="34" charset="0"/>
                          <a:ea typeface="Calibri" pitchFamily="34" charset="-122"/>
                          <a:cs typeface="Calibri" pitchFamily="34" charset="-120"/>
                        </a:rPr>
                        <a:t>92.6%</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b="1" dirty="0">
                          <a:solidFill>
                            <a:srgbClr val="1A7A9A"/>
                          </a:solidFill>
                          <a:latin typeface="Calibri" pitchFamily="34" charset="0"/>
                          <a:ea typeface="Calibri" pitchFamily="34" charset="-122"/>
                          <a:cs typeface="Calibri" pitchFamily="34" charset="-120"/>
                        </a:rPr>
                        <a:t>93.3%</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b="1" dirty="0">
                          <a:solidFill>
                            <a:srgbClr val="1A7A9A"/>
                          </a:solidFill>
                          <a:latin typeface="Calibri" pitchFamily="34" charset="0"/>
                          <a:ea typeface="Calibri" pitchFamily="34" charset="-122"/>
                          <a:cs typeface="Calibri" pitchFamily="34" charset="-120"/>
                        </a:rPr>
                        <a:t>92.9%</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669280" y="1115568"/>
            <a:ext cx="3200400" cy="12344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7" name="Shape 4"/>
          <p:cNvSpPr/>
          <p:nvPr/>
        </p:nvSpPr>
        <p:spPr>
          <a:xfrm>
            <a:off x="5669280" y="1115568"/>
            <a:ext cx="3200400" cy="411480"/>
          </a:xfrm>
          <a:prstGeom prst="rect">
            <a:avLst/>
          </a:prstGeom>
          <a:solidFill>
            <a:srgbClr val="0B2545"/>
          </a:solidFill>
          <a:ln/>
        </p:spPr>
        <p:txBody>
          <a:bodyPr/>
          <a:lstStyle/>
          <a:p>
            <a:endParaRPr lang="en-US"/>
          </a:p>
        </p:txBody>
      </p:sp>
      <p:sp>
        <p:nvSpPr>
          <p:cNvPr id="8" name="Text 5"/>
          <p:cNvSpPr/>
          <p:nvPr/>
        </p:nvSpPr>
        <p:spPr>
          <a:xfrm>
            <a:off x="5715000" y="1115568"/>
            <a:ext cx="3108960" cy="411480"/>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Severity Regression (MSE)</a:t>
            </a:r>
            <a:endParaRPr lang="en-US" sz="1300" dirty="0"/>
          </a:p>
        </p:txBody>
      </p:sp>
      <p:sp>
        <p:nvSpPr>
          <p:cNvPr id="9" name="Text 6"/>
          <p:cNvSpPr/>
          <p:nvPr/>
        </p:nvSpPr>
        <p:spPr>
          <a:xfrm>
            <a:off x="5760720" y="1609344"/>
            <a:ext cx="3017520" cy="347472"/>
          </a:xfrm>
          <a:prstGeom prst="rect">
            <a:avLst/>
          </a:prstGeom>
          <a:noFill/>
          <a:ln/>
        </p:spPr>
        <p:txBody>
          <a:bodyPr wrap="square" lIns="0" tIns="0" rIns="0" bIns="0" rtlCol="0" anchor="ctr"/>
          <a:lstStyle/>
          <a:p>
            <a:pPr marL="0" indent="0" algn="ctr">
              <a:buNone/>
            </a:pPr>
            <a:r>
              <a:rPr lang="en-US" sz="2000" b="1" dirty="0">
                <a:solidFill>
                  <a:srgbClr val="1A7A9A"/>
                </a:solidFill>
                <a:latin typeface="Calibri" pitchFamily="34" charset="0"/>
                <a:ea typeface="Calibri" pitchFamily="34" charset="-122"/>
                <a:cs typeface="Calibri" pitchFamily="34" charset="-120"/>
              </a:rPr>
              <a:t>Test MSE: 0.042</a:t>
            </a:r>
            <a:endParaRPr lang="en-US" sz="2000" dirty="0"/>
          </a:p>
        </p:txBody>
      </p:sp>
      <p:sp>
        <p:nvSpPr>
          <p:cNvPr id="10" name="Text 7"/>
          <p:cNvSpPr/>
          <p:nvPr/>
        </p:nvSpPr>
        <p:spPr>
          <a:xfrm>
            <a:off x="5760720" y="1975104"/>
            <a:ext cx="3017520" cy="292608"/>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Low error confirms the regression head reliably estimates disease severity across all four classes.</a:t>
            </a:r>
            <a:endParaRPr lang="en-US" sz="1050" dirty="0"/>
          </a:p>
        </p:txBody>
      </p:sp>
      <p:sp>
        <p:nvSpPr>
          <p:cNvPr id="5" name="Shape 8"/>
          <p:cNvSpPr/>
          <p:nvPr/>
        </p:nvSpPr>
        <p:spPr>
          <a:xfrm>
            <a:off x="5669280" y="2487168"/>
            <a:ext cx="3383280" cy="169621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9"/>
          <p:cNvSpPr/>
          <p:nvPr/>
        </p:nvSpPr>
        <p:spPr>
          <a:xfrm>
            <a:off x="5669280" y="2487168"/>
            <a:ext cx="3200400" cy="411480"/>
          </a:xfrm>
          <a:prstGeom prst="rect">
            <a:avLst/>
          </a:prstGeom>
          <a:solidFill>
            <a:srgbClr val="1A7A9A"/>
          </a:solidFill>
          <a:ln/>
        </p:spPr>
        <p:txBody>
          <a:bodyPr/>
          <a:lstStyle/>
          <a:p>
            <a:endParaRPr lang="en-US"/>
          </a:p>
        </p:txBody>
      </p:sp>
      <p:sp>
        <p:nvSpPr>
          <p:cNvPr id="13" name="Text 10"/>
          <p:cNvSpPr/>
          <p:nvPr/>
        </p:nvSpPr>
        <p:spPr>
          <a:xfrm>
            <a:off x="5715000" y="2487168"/>
            <a:ext cx="3108960" cy="411480"/>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Observations</a:t>
            </a:r>
            <a:endParaRPr lang="en-US" sz="1300" dirty="0"/>
          </a:p>
        </p:txBody>
      </p:sp>
      <p:sp>
        <p:nvSpPr>
          <p:cNvPr id="14" name="Text 11"/>
          <p:cNvSpPr/>
          <p:nvPr/>
        </p:nvSpPr>
        <p:spPr>
          <a:xfrm>
            <a:off x="5760720" y="2980944"/>
            <a:ext cx="2947182" cy="128016"/>
          </a:xfrm>
          <a:prstGeom prst="rect">
            <a:avLst/>
          </a:prstGeom>
          <a:noFill/>
          <a:ln/>
        </p:spPr>
        <p:txBody>
          <a:bodyPr wrap="square" lIns="0" tIns="0" rIns="0" bIns="0" rtlCol="0" anchor="ctr"/>
          <a:lstStyle/>
          <a:p>
            <a:pPr marL="342900" indent="-342900">
              <a:buSzPct val="100000"/>
              <a:buChar char="•"/>
            </a:pPr>
            <a:r>
              <a:rPr lang="en-US" sz="1100" dirty="0">
                <a:solidFill>
                  <a:srgbClr val="1A202C"/>
                </a:solidFill>
                <a:latin typeface="Calibri" pitchFamily="34" charset="0"/>
                <a:ea typeface="Calibri" pitchFamily="34" charset="-122"/>
                <a:cs typeface="Calibri" pitchFamily="34" charset="-120"/>
              </a:rPr>
              <a:t>Normal class achieved highest F1 (96.3%) — easiest to distinguish</a:t>
            </a:r>
            <a:endParaRPr lang="en-US" sz="1100" dirty="0"/>
          </a:p>
        </p:txBody>
      </p:sp>
      <p:sp>
        <p:nvSpPr>
          <p:cNvPr id="15" name="Text 12"/>
          <p:cNvSpPr/>
          <p:nvPr/>
        </p:nvSpPr>
        <p:spPr>
          <a:xfrm>
            <a:off x="5760720" y="3236976"/>
            <a:ext cx="2999232" cy="365760"/>
          </a:xfrm>
          <a:prstGeom prst="rect">
            <a:avLst/>
          </a:prstGeom>
          <a:noFill/>
          <a:ln/>
        </p:spPr>
        <p:txBody>
          <a:bodyPr wrap="square" lIns="0" tIns="0" rIns="0" bIns="0" rtlCol="0" anchor="ctr"/>
          <a:lstStyle/>
          <a:p>
            <a:pPr marL="342900" indent="-342900">
              <a:buSzPct val="100000"/>
              <a:buChar char="•"/>
            </a:pPr>
            <a:r>
              <a:rPr lang="en-US" sz="1100" dirty="0">
                <a:solidFill>
                  <a:srgbClr val="1A202C"/>
                </a:solidFill>
                <a:latin typeface="Calibri" pitchFamily="34" charset="0"/>
                <a:ea typeface="Calibri" pitchFamily="34" charset="-122"/>
                <a:cs typeface="Calibri" pitchFamily="34" charset="-120"/>
              </a:rPr>
              <a:t>Glaucoma was the hardest to classify — subtle optic disc changes</a:t>
            </a:r>
            <a:endParaRPr lang="en-US" sz="1100" dirty="0"/>
          </a:p>
        </p:txBody>
      </p:sp>
      <p:sp>
        <p:nvSpPr>
          <p:cNvPr id="16" name="Text 13"/>
          <p:cNvSpPr/>
          <p:nvPr/>
        </p:nvSpPr>
        <p:spPr>
          <a:xfrm>
            <a:off x="5760720" y="3602736"/>
            <a:ext cx="3108960" cy="425196"/>
          </a:xfrm>
          <a:prstGeom prst="rect">
            <a:avLst/>
          </a:prstGeom>
          <a:noFill/>
          <a:ln/>
        </p:spPr>
        <p:txBody>
          <a:bodyPr wrap="square" lIns="0" tIns="0" rIns="0" bIns="0" rtlCol="0" anchor="ctr"/>
          <a:lstStyle/>
          <a:p>
            <a:pPr marL="342900" indent="-342900">
              <a:buSzPct val="100000"/>
              <a:buChar char="•"/>
            </a:pPr>
            <a:r>
              <a:rPr lang="en-US" sz="1100" dirty="0">
                <a:solidFill>
                  <a:srgbClr val="1A202C"/>
                </a:solidFill>
                <a:latin typeface="Calibri" pitchFamily="34" charset="0"/>
                <a:ea typeface="Calibri" pitchFamily="34" charset="-122"/>
                <a:cs typeface="Calibri" pitchFamily="34" charset="-120"/>
              </a:rPr>
              <a:t>Multi-output training did NOT degrade classification performance</a:t>
            </a:r>
            <a:endParaRPr lang="en-US" sz="1100" dirty="0"/>
          </a:p>
        </p:txBody>
      </p:sp>
      <p:graphicFrame>
        <p:nvGraphicFramePr>
          <p:cNvPr id="17" name="Chart 0"/>
          <p:cNvGraphicFramePr/>
          <p:nvPr/>
        </p:nvGraphicFramePr>
        <p:xfrm>
          <a:off x="274320" y="3840480"/>
          <a:ext cx="5212080" cy="12344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Demonstration &amp; Explanation — How a Prediction Works</a:t>
            </a:r>
            <a:endParaRPr lang="en-US" sz="2700" dirty="0"/>
          </a:p>
        </p:txBody>
      </p:sp>
      <p:sp>
        <p:nvSpPr>
          <p:cNvPr id="5" name="Shape 3"/>
          <p:cNvSpPr/>
          <p:nvPr/>
        </p:nvSpPr>
        <p:spPr>
          <a:xfrm>
            <a:off x="274320" y="1115568"/>
            <a:ext cx="1280160" cy="621792"/>
          </a:xfrm>
          <a:prstGeom prst="rect">
            <a:avLst/>
          </a:prstGeom>
          <a:solidFill>
            <a:srgbClr val="0B2545"/>
          </a:solidFill>
          <a:ln/>
        </p:spPr>
        <p:txBody>
          <a:bodyPr/>
          <a:lstStyle/>
          <a:p>
            <a:endParaRPr lang="en-US"/>
          </a:p>
        </p:txBody>
      </p:sp>
      <p:sp>
        <p:nvSpPr>
          <p:cNvPr id="6" name="Text 4"/>
          <p:cNvSpPr/>
          <p:nvPr/>
        </p:nvSpPr>
        <p:spPr>
          <a:xfrm>
            <a:off x="274320" y="1115568"/>
            <a:ext cx="1280160" cy="621792"/>
          </a:xfrm>
          <a:prstGeom prst="rect">
            <a:avLst/>
          </a:prstGeom>
          <a:noFill/>
          <a:ln/>
        </p:spPr>
        <p:txBody>
          <a:bodyPr wrap="square" lIns="0" tIns="0" rIns="0" bIns="0"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Upload</a:t>
            </a:r>
            <a:endParaRPr lang="en-US" sz="1400" dirty="0"/>
          </a:p>
        </p:txBody>
      </p:sp>
      <p:sp>
        <p:nvSpPr>
          <p:cNvPr id="7" name="Shape 5"/>
          <p:cNvSpPr/>
          <p:nvPr/>
        </p:nvSpPr>
        <p:spPr>
          <a:xfrm>
            <a:off x="1600200" y="1115568"/>
            <a:ext cx="7269480" cy="62179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8" name="Text 6"/>
          <p:cNvSpPr/>
          <p:nvPr/>
        </p:nvSpPr>
        <p:spPr>
          <a:xfrm>
            <a:off x="1719072" y="1207008"/>
            <a:ext cx="7059168" cy="4572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Doctor opens the Streamlit app in any browser and drags a fundus image into the upload widget.</a:t>
            </a:r>
            <a:endParaRPr lang="en-US" sz="1250" dirty="0"/>
          </a:p>
        </p:txBody>
      </p:sp>
      <p:sp>
        <p:nvSpPr>
          <p:cNvPr id="9" name="Shape 7"/>
          <p:cNvSpPr/>
          <p:nvPr/>
        </p:nvSpPr>
        <p:spPr>
          <a:xfrm>
            <a:off x="274320" y="1874520"/>
            <a:ext cx="1280160" cy="621792"/>
          </a:xfrm>
          <a:prstGeom prst="rect">
            <a:avLst/>
          </a:prstGeom>
          <a:solidFill>
            <a:srgbClr val="0B2545"/>
          </a:solidFill>
          <a:ln/>
        </p:spPr>
        <p:txBody>
          <a:bodyPr/>
          <a:lstStyle/>
          <a:p>
            <a:endParaRPr lang="en-US"/>
          </a:p>
        </p:txBody>
      </p:sp>
      <p:sp>
        <p:nvSpPr>
          <p:cNvPr id="10" name="Text 8"/>
          <p:cNvSpPr/>
          <p:nvPr/>
        </p:nvSpPr>
        <p:spPr>
          <a:xfrm>
            <a:off x="274320" y="1874520"/>
            <a:ext cx="1280160" cy="621792"/>
          </a:xfrm>
          <a:prstGeom prst="rect">
            <a:avLst/>
          </a:prstGeom>
          <a:noFill/>
          <a:ln/>
        </p:spPr>
        <p:txBody>
          <a:bodyPr wrap="square" lIns="0" tIns="0" rIns="0" bIns="0"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Process</a:t>
            </a:r>
            <a:endParaRPr lang="en-US" sz="1400" dirty="0"/>
          </a:p>
        </p:txBody>
      </p:sp>
      <p:sp>
        <p:nvSpPr>
          <p:cNvPr id="11" name="Shape 9"/>
          <p:cNvSpPr/>
          <p:nvPr/>
        </p:nvSpPr>
        <p:spPr>
          <a:xfrm>
            <a:off x="1600200" y="1874520"/>
            <a:ext cx="7269480" cy="62179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2" name="Text 10"/>
          <p:cNvSpPr/>
          <p:nvPr/>
        </p:nvSpPr>
        <p:spPr>
          <a:xfrm>
            <a:off x="1719072" y="1965960"/>
            <a:ext cx="7059168" cy="4572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The system converts it to RGB, resizes it to 224×224, and normalizes pixel values to [0,1] automatically — zero user effort.</a:t>
            </a:r>
            <a:endParaRPr lang="en-US" sz="1250" dirty="0"/>
          </a:p>
        </p:txBody>
      </p:sp>
      <p:sp>
        <p:nvSpPr>
          <p:cNvPr id="13" name="Shape 11"/>
          <p:cNvSpPr/>
          <p:nvPr/>
        </p:nvSpPr>
        <p:spPr>
          <a:xfrm>
            <a:off x="274320" y="2633472"/>
            <a:ext cx="1280160" cy="621792"/>
          </a:xfrm>
          <a:prstGeom prst="rect">
            <a:avLst/>
          </a:prstGeom>
          <a:solidFill>
            <a:srgbClr val="0B2545"/>
          </a:solidFill>
          <a:ln/>
        </p:spPr>
        <p:txBody>
          <a:bodyPr/>
          <a:lstStyle/>
          <a:p>
            <a:endParaRPr lang="en-US"/>
          </a:p>
        </p:txBody>
      </p:sp>
      <p:sp>
        <p:nvSpPr>
          <p:cNvPr id="14" name="Text 12"/>
          <p:cNvSpPr/>
          <p:nvPr/>
        </p:nvSpPr>
        <p:spPr>
          <a:xfrm>
            <a:off x="274320" y="2633472"/>
            <a:ext cx="1280160" cy="621792"/>
          </a:xfrm>
          <a:prstGeom prst="rect">
            <a:avLst/>
          </a:prstGeom>
          <a:noFill/>
          <a:ln/>
        </p:spPr>
        <p:txBody>
          <a:bodyPr wrap="square" lIns="0" tIns="0" rIns="0" bIns="0"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Predict</a:t>
            </a:r>
            <a:endParaRPr lang="en-US" sz="1400" dirty="0"/>
          </a:p>
        </p:txBody>
      </p:sp>
      <p:sp>
        <p:nvSpPr>
          <p:cNvPr id="15" name="Shape 13"/>
          <p:cNvSpPr/>
          <p:nvPr/>
        </p:nvSpPr>
        <p:spPr>
          <a:xfrm>
            <a:off x="1600200" y="2633472"/>
            <a:ext cx="7269480" cy="62179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6" name="Text 14"/>
          <p:cNvSpPr/>
          <p:nvPr/>
        </p:nvSpPr>
        <p:spPr>
          <a:xfrm>
            <a:off x="1719072" y="2724912"/>
            <a:ext cx="7059168" cy="4572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The CNN shared layers extract features; the classification head outputs four probabilities; the regression head outputs a 0–1 severity score — all in under 2 seconds.</a:t>
            </a:r>
            <a:endParaRPr lang="en-US" sz="1250" dirty="0"/>
          </a:p>
        </p:txBody>
      </p:sp>
      <p:sp>
        <p:nvSpPr>
          <p:cNvPr id="17" name="Shape 15"/>
          <p:cNvSpPr/>
          <p:nvPr/>
        </p:nvSpPr>
        <p:spPr>
          <a:xfrm>
            <a:off x="274320" y="3392424"/>
            <a:ext cx="1280160" cy="621792"/>
          </a:xfrm>
          <a:prstGeom prst="rect">
            <a:avLst/>
          </a:prstGeom>
          <a:solidFill>
            <a:srgbClr val="0B2545"/>
          </a:solidFill>
          <a:ln/>
        </p:spPr>
        <p:txBody>
          <a:bodyPr/>
          <a:lstStyle/>
          <a:p>
            <a:endParaRPr lang="en-US"/>
          </a:p>
        </p:txBody>
      </p:sp>
      <p:sp>
        <p:nvSpPr>
          <p:cNvPr id="18" name="Text 16"/>
          <p:cNvSpPr/>
          <p:nvPr/>
        </p:nvSpPr>
        <p:spPr>
          <a:xfrm>
            <a:off x="274320" y="3392424"/>
            <a:ext cx="1280160" cy="621792"/>
          </a:xfrm>
          <a:prstGeom prst="rect">
            <a:avLst/>
          </a:prstGeom>
          <a:noFill/>
          <a:ln/>
        </p:spPr>
        <p:txBody>
          <a:bodyPr wrap="square" lIns="0" tIns="0" rIns="0" bIns="0"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Interpret</a:t>
            </a:r>
            <a:endParaRPr lang="en-US" sz="1400" dirty="0"/>
          </a:p>
        </p:txBody>
      </p:sp>
      <p:sp>
        <p:nvSpPr>
          <p:cNvPr id="19" name="Shape 17"/>
          <p:cNvSpPr/>
          <p:nvPr/>
        </p:nvSpPr>
        <p:spPr>
          <a:xfrm>
            <a:off x="1600200" y="3392424"/>
            <a:ext cx="7269480" cy="62179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0" name="Text 18"/>
          <p:cNvSpPr/>
          <p:nvPr/>
        </p:nvSpPr>
        <p:spPr>
          <a:xfrm>
            <a:off x="1719072" y="3483864"/>
            <a:ext cx="7059168" cy="4572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Results are displayed: most likely diagnosis (e.g., 'Diabetic Retinopathy — 88.4% confidence'), severity bar at 0.73 (High), and a probability chart for all four classes.</a:t>
            </a:r>
            <a:endParaRPr lang="en-US" sz="1250" dirty="0"/>
          </a:p>
        </p:txBody>
      </p:sp>
      <p:sp>
        <p:nvSpPr>
          <p:cNvPr id="21" name="Shape 19"/>
          <p:cNvSpPr/>
          <p:nvPr/>
        </p:nvSpPr>
        <p:spPr>
          <a:xfrm>
            <a:off x="274320" y="4151376"/>
            <a:ext cx="1280160" cy="621792"/>
          </a:xfrm>
          <a:prstGeom prst="rect">
            <a:avLst/>
          </a:prstGeom>
          <a:solidFill>
            <a:srgbClr val="0B2545"/>
          </a:solidFill>
          <a:ln/>
        </p:spPr>
        <p:txBody>
          <a:bodyPr/>
          <a:lstStyle/>
          <a:p>
            <a:endParaRPr lang="en-US"/>
          </a:p>
        </p:txBody>
      </p:sp>
      <p:sp>
        <p:nvSpPr>
          <p:cNvPr id="22" name="Text 20"/>
          <p:cNvSpPr/>
          <p:nvPr/>
        </p:nvSpPr>
        <p:spPr>
          <a:xfrm>
            <a:off x="274320" y="4151376"/>
            <a:ext cx="1280160" cy="621792"/>
          </a:xfrm>
          <a:prstGeom prst="rect">
            <a:avLst/>
          </a:prstGeom>
          <a:noFill/>
          <a:ln/>
        </p:spPr>
        <p:txBody>
          <a:bodyPr wrap="square" lIns="0" tIns="0" rIns="0" bIns="0"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Act</a:t>
            </a:r>
            <a:endParaRPr lang="en-US" sz="1400" dirty="0"/>
          </a:p>
        </p:txBody>
      </p:sp>
      <p:sp>
        <p:nvSpPr>
          <p:cNvPr id="23" name="Shape 21"/>
          <p:cNvSpPr/>
          <p:nvPr/>
        </p:nvSpPr>
        <p:spPr>
          <a:xfrm>
            <a:off x="1600200" y="4151376"/>
            <a:ext cx="7269480" cy="62179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4" name="Text 22"/>
          <p:cNvSpPr/>
          <p:nvPr/>
        </p:nvSpPr>
        <p:spPr>
          <a:xfrm>
            <a:off x="1719072" y="4242816"/>
            <a:ext cx="7059168" cy="4572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The app surfaces a tailored recommendation: 'High severity detected — immediate ophthalmologist referral advised.'</a:t>
            </a:r>
            <a:endParaRPr lang="en-US" sz="1250" dirty="0"/>
          </a:p>
        </p:txBody>
      </p:sp>
      <p:sp>
        <p:nvSpPr>
          <p:cNvPr id="25" name="Shape 23"/>
          <p:cNvSpPr/>
          <p:nvPr/>
        </p:nvSpPr>
        <p:spPr>
          <a:xfrm>
            <a:off x="274320" y="4919472"/>
            <a:ext cx="8595360" cy="457200"/>
          </a:xfrm>
          <a:prstGeom prst="rect">
            <a:avLst/>
          </a:prstGeom>
          <a:solidFill>
            <a:srgbClr val="E8F5E9"/>
          </a:solidFill>
          <a:ln w="15240">
            <a:solidFill>
              <a:srgbClr val="1A8C5B"/>
            </a:solidFill>
            <a:prstDash val="solid"/>
          </a:ln>
          <a:effectLst>
            <a:outerShdw blurRad="88900" dist="38100" dir="8100000" algn="bl" rotWithShape="0">
              <a:srgbClr val="000000">
                <a:alpha val="13000"/>
              </a:srgbClr>
            </a:outerShdw>
          </a:effectLst>
        </p:spPr>
        <p:txBody>
          <a:bodyPr/>
          <a:lstStyle/>
          <a:p>
            <a:endParaRPr lang="en-US"/>
          </a:p>
        </p:txBody>
      </p:sp>
      <p:sp>
        <p:nvSpPr>
          <p:cNvPr id="26" name="Text 24"/>
          <p:cNvSpPr/>
          <p:nvPr/>
        </p:nvSpPr>
        <p:spPr>
          <a:xfrm>
            <a:off x="411480" y="4956048"/>
            <a:ext cx="1920240" cy="320040"/>
          </a:xfrm>
          <a:prstGeom prst="rect">
            <a:avLst/>
          </a:prstGeom>
          <a:noFill/>
          <a:ln/>
        </p:spPr>
        <p:txBody>
          <a:bodyPr wrap="square" lIns="0" tIns="0" rIns="0" bIns="0" rtlCol="0" anchor="ctr"/>
          <a:lstStyle/>
          <a:p>
            <a:pPr marL="0" indent="0">
              <a:buNone/>
            </a:pPr>
            <a:r>
              <a:rPr lang="en-US" sz="1250" b="1" dirty="0">
                <a:solidFill>
                  <a:srgbClr val="1A8C5B"/>
                </a:solidFill>
                <a:latin typeface="Calibri" pitchFamily="34" charset="0"/>
                <a:ea typeface="Calibri" pitchFamily="34" charset="-122"/>
                <a:cs typeface="Calibri" pitchFamily="34" charset="-120"/>
              </a:rPr>
              <a:t>Live Demo Advantage:</a:t>
            </a:r>
            <a:endParaRPr lang="en-US" sz="1250" dirty="0"/>
          </a:p>
        </p:txBody>
      </p:sp>
      <p:sp>
        <p:nvSpPr>
          <p:cNvPr id="27" name="Text 25"/>
          <p:cNvSpPr/>
          <p:nvPr/>
        </p:nvSpPr>
        <p:spPr>
          <a:xfrm>
            <a:off x="2377440" y="4956048"/>
            <a:ext cx="6382512"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Because the system is deployed on Streamlit, the live demo requires nothing more than a browser and a sample fundus image — no special hardware or local setup.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Conclusion &amp; Societal Impact</a:t>
            </a:r>
            <a:endParaRPr lang="en-US" sz="2700" dirty="0"/>
          </a:p>
        </p:txBody>
      </p:sp>
      <p:sp>
        <p:nvSpPr>
          <p:cNvPr id="5" name="Shape 3"/>
          <p:cNvSpPr/>
          <p:nvPr/>
        </p:nvSpPr>
        <p:spPr>
          <a:xfrm>
            <a:off x="274320" y="1115568"/>
            <a:ext cx="8595360" cy="12344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74320" y="1115568"/>
            <a:ext cx="201168" cy="1234440"/>
          </a:xfrm>
          <a:prstGeom prst="rect">
            <a:avLst/>
          </a:prstGeom>
          <a:solidFill>
            <a:srgbClr val="2EC4B6"/>
          </a:solidFill>
          <a:ln/>
        </p:spPr>
        <p:txBody>
          <a:bodyPr/>
          <a:lstStyle/>
          <a:p>
            <a:endParaRPr lang="en-US"/>
          </a:p>
        </p:txBody>
      </p:sp>
      <p:sp>
        <p:nvSpPr>
          <p:cNvPr id="7" name="Text 5"/>
          <p:cNvSpPr/>
          <p:nvPr/>
        </p:nvSpPr>
        <p:spPr>
          <a:xfrm>
            <a:off x="594360" y="1152144"/>
            <a:ext cx="1828800" cy="3200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What We Built</a:t>
            </a:r>
            <a:endParaRPr lang="en-US" sz="1300" dirty="0"/>
          </a:p>
        </p:txBody>
      </p:sp>
      <p:sp>
        <p:nvSpPr>
          <p:cNvPr id="8" name="Text 6"/>
          <p:cNvSpPr/>
          <p:nvPr/>
        </p:nvSpPr>
        <p:spPr>
          <a:xfrm>
            <a:off x="594360" y="1481328"/>
            <a:ext cx="8138160" cy="6858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A single end-to-end system that takes a raw fundus image and returns both a disease diagnosis and a severity score in real time — accessible to any clinic through a browser-based interface, without specialist hardware.</a:t>
            </a:r>
            <a:endParaRPr lang="en-US" sz="1250" dirty="0"/>
          </a:p>
        </p:txBody>
      </p:sp>
      <p:sp>
        <p:nvSpPr>
          <p:cNvPr id="9" name="Shape 7"/>
          <p:cNvSpPr/>
          <p:nvPr/>
        </p:nvSpPr>
        <p:spPr>
          <a:xfrm>
            <a:off x="274320" y="2468880"/>
            <a:ext cx="8595360" cy="12344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274320" y="2468880"/>
            <a:ext cx="201168" cy="1234440"/>
          </a:xfrm>
          <a:prstGeom prst="rect">
            <a:avLst/>
          </a:prstGeom>
          <a:solidFill>
            <a:srgbClr val="1A7A9A"/>
          </a:solidFill>
          <a:ln/>
        </p:spPr>
        <p:txBody>
          <a:bodyPr/>
          <a:lstStyle/>
          <a:p>
            <a:endParaRPr lang="en-US"/>
          </a:p>
        </p:txBody>
      </p:sp>
      <p:sp>
        <p:nvSpPr>
          <p:cNvPr id="11" name="Text 9"/>
          <p:cNvSpPr/>
          <p:nvPr/>
        </p:nvSpPr>
        <p:spPr>
          <a:xfrm>
            <a:off x="594360" y="2505456"/>
            <a:ext cx="1828800" cy="3200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What We Proved</a:t>
            </a:r>
            <a:endParaRPr lang="en-US" sz="1300" dirty="0"/>
          </a:p>
        </p:txBody>
      </p:sp>
      <p:sp>
        <p:nvSpPr>
          <p:cNvPr id="12" name="Text 10"/>
          <p:cNvSpPr/>
          <p:nvPr/>
        </p:nvSpPr>
        <p:spPr>
          <a:xfrm>
            <a:off x="594360" y="2834640"/>
            <a:ext cx="8138160" cy="6858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Multi-output CNN training (classification + regression together) does not hurt either task — in fact, shared feature learning improves both. Overall F1-Score of 92.9% and severity MSE of just 0.042 confirm clinical-grade performance.</a:t>
            </a:r>
            <a:endParaRPr lang="en-US" sz="1250" dirty="0"/>
          </a:p>
        </p:txBody>
      </p:sp>
      <p:sp>
        <p:nvSpPr>
          <p:cNvPr id="13" name="Shape 11"/>
          <p:cNvSpPr/>
          <p:nvPr/>
        </p:nvSpPr>
        <p:spPr>
          <a:xfrm>
            <a:off x="274320" y="3822192"/>
            <a:ext cx="8595360" cy="347472"/>
          </a:xfrm>
          <a:prstGeom prst="rect">
            <a:avLst/>
          </a:prstGeom>
          <a:solidFill>
            <a:srgbClr val="0B2545"/>
          </a:solidFill>
          <a:ln/>
        </p:spPr>
        <p:txBody>
          <a:bodyPr/>
          <a:lstStyle/>
          <a:p>
            <a:endParaRPr lang="en-US"/>
          </a:p>
        </p:txBody>
      </p:sp>
      <p:sp>
        <p:nvSpPr>
          <p:cNvPr id="14" name="Text 12"/>
          <p:cNvSpPr/>
          <p:nvPr/>
        </p:nvSpPr>
        <p:spPr>
          <a:xfrm>
            <a:off x="320040" y="3822192"/>
            <a:ext cx="8503920" cy="347472"/>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Societal Impact</a:t>
            </a:r>
            <a:endParaRPr lang="en-US" sz="1400" dirty="0"/>
          </a:p>
        </p:txBody>
      </p:sp>
      <p:sp>
        <p:nvSpPr>
          <p:cNvPr id="15" name="Text 13"/>
          <p:cNvSpPr/>
          <p:nvPr/>
        </p:nvSpPr>
        <p:spPr>
          <a:xfrm>
            <a:off x="384047" y="4251960"/>
            <a:ext cx="3139909" cy="132940"/>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Early Detection Saves Sight: </a:t>
            </a:r>
            <a:endParaRPr lang="en-US" sz="1200" dirty="0"/>
          </a:p>
        </p:txBody>
      </p:sp>
      <p:sp>
        <p:nvSpPr>
          <p:cNvPr id="16" name="Text 14"/>
          <p:cNvSpPr/>
          <p:nvPr/>
        </p:nvSpPr>
        <p:spPr>
          <a:xfrm>
            <a:off x="3017519" y="4251960"/>
            <a:ext cx="5978769" cy="144194"/>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Catching DR, Glaucoma, or Cataract early can prevent irreversible blindness — this system makes early screening accessible anywhere with a laptop.</a:t>
            </a:r>
            <a:endParaRPr lang="en-US" sz="1050" dirty="0"/>
          </a:p>
        </p:txBody>
      </p:sp>
      <p:sp>
        <p:nvSpPr>
          <p:cNvPr id="17" name="Text 15"/>
          <p:cNvSpPr/>
          <p:nvPr/>
        </p:nvSpPr>
        <p:spPr>
          <a:xfrm>
            <a:off x="384048" y="4507992"/>
            <a:ext cx="2717878" cy="144194"/>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Reduces Specialist Burden: </a:t>
            </a:r>
            <a:endParaRPr lang="en-US" sz="1200" dirty="0"/>
          </a:p>
        </p:txBody>
      </p:sp>
      <p:sp>
        <p:nvSpPr>
          <p:cNvPr id="18" name="Text 16"/>
          <p:cNvSpPr/>
          <p:nvPr/>
        </p:nvSpPr>
        <p:spPr>
          <a:xfrm>
            <a:off x="3017519" y="4478450"/>
            <a:ext cx="5806441" cy="33528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AI pre-screening filters urgent cases, so ophthalmologists can focus attention where it matters most rather than reviewing thousands of routine images.</a:t>
            </a:r>
            <a:endParaRPr lang="en-US" sz="1050" dirty="0"/>
          </a:p>
        </p:txBody>
      </p:sp>
      <p:sp>
        <p:nvSpPr>
          <p:cNvPr id="19" name="Text 17"/>
          <p:cNvSpPr/>
          <p:nvPr/>
        </p:nvSpPr>
        <p:spPr>
          <a:xfrm>
            <a:off x="384047" y="4764024"/>
            <a:ext cx="2781183" cy="237744"/>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Reaches Underserved Areas: </a:t>
            </a:r>
            <a:endParaRPr lang="en-US" sz="1200" dirty="0"/>
          </a:p>
        </p:txBody>
      </p:sp>
      <p:sp>
        <p:nvSpPr>
          <p:cNvPr id="20" name="Text 18"/>
          <p:cNvSpPr/>
          <p:nvPr/>
        </p:nvSpPr>
        <p:spPr>
          <a:xfrm>
            <a:off x="3017519" y="4907280"/>
            <a:ext cx="5742433" cy="94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A browser-based tool needs no specialist on-site — rural health workers can use it after minimal training, closing a critical healthcare gap.</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Future Scope — Where This Project Goes Next</a:t>
            </a:r>
            <a:endParaRPr lang="en-US" sz="2700" dirty="0"/>
          </a:p>
        </p:txBody>
      </p:sp>
      <p:sp>
        <p:nvSpPr>
          <p:cNvPr id="5" name="Shape 3"/>
          <p:cNvSpPr/>
          <p:nvPr/>
        </p:nvSpPr>
        <p:spPr>
          <a:xfrm>
            <a:off x="256032" y="111556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56032" y="1115568"/>
            <a:ext cx="164592" cy="1188720"/>
          </a:xfrm>
          <a:prstGeom prst="rect">
            <a:avLst/>
          </a:prstGeom>
          <a:solidFill>
            <a:srgbClr val="0B2545"/>
          </a:solidFill>
          <a:ln/>
        </p:spPr>
        <p:txBody>
          <a:bodyPr/>
          <a:lstStyle/>
          <a:p>
            <a:endParaRPr lang="en-US"/>
          </a:p>
        </p:txBody>
      </p:sp>
      <p:sp>
        <p:nvSpPr>
          <p:cNvPr id="7" name="Text 5"/>
          <p:cNvSpPr/>
          <p:nvPr/>
        </p:nvSpPr>
        <p:spPr>
          <a:xfrm>
            <a:off x="512064" y="1207008"/>
            <a:ext cx="3703320" cy="3200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Grad-CAM Explainability</a:t>
            </a:r>
            <a:endParaRPr lang="en-US" sz="1300" dirty="0"/>
          </a:p>
        </p:txBody>
      </p:sp>
      <p:sp>
        <p:nvSpPr>
          <p:cNvPr id="8" name="Text 6"/>
          <p:cNvSpPr/>
          <p:nvPr/>
        </p:nvSpPr>
        <p:spPr>
          <a:xfrm>
            <a:off x="512064" y="153619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Overlay heatmaps on fundus images to show exactly which regions drove the model's decision — making results interpretable and trustworthy for clinicians.</a:t>
            </a:r>
            <a:endParaRPr lang="en-US" sz="1150" dirty="0"/>
          </a:p>
        </p:txBody>
      </p:sp>
      <p:sp>
        <p:nvSpPr>
          <p:cNvPr id="9" name="Shape 7"/>
          <p:cNvSpPr/>
          <p:nvPr/>
        </p:nvSpPr>
        <p:spPr>
          <a:xfrm>
            <a:off x="4590288" y="111556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4590288" y="1115568"/>
            <a:ext cx="164592" cy="1188720"/>
          </a:xfrm>
          <a:prstGeom prst="rect">
            <a:avLst/>
          </a:prstGeom>
          <a:solidFill>
            <a:srgbClr val="1A7A9A"/>
          </a:solidFill>
          <a:ln/>
        </p:spPr>
        <p:txBody>
          <a:bodyPr/>
          <a:lstStyle/>
          <a:p>
            <a:endParaRPr lang="en-US"/>
          </a:p>
        </p:txBody>
      </p:sp>
      <p:sp>
        <p:nvSpPr>
          <p:cNvPr id="11" name="Text 9"/>
          <p:cNvSpPr/>
          <p:nvPr/>
        </p:nvSpPr>
        <p:spPr>
          <a:xfrm>
            <a:off x="4846320" y="1207008"/>
            <a:ext cx="3703320" cy="320040"/>
          </a:xfrm>
          <a:prstGeom prst="rect">
            <a:avLst/>
          </a:prstGeom>
          <a:noFill/>
          <a:ln/>
        </p:spPr>
        <p:txBody>
          <a:bodyPr wrap="square" lIns="0" tIns="0" rIns="0" bIns="0" rtlCol="0" anchor="ctr"/>
          <a:lstStyle/>
          <a:p>
            <a:pPr marL="0" indent="0">
              <a:buNone/>
            </a:pPr>
            <a:r>
              <a:rPr lang="en-US" sz="1300" b="1" dirty="0">
                <a:solidFill>
                  <a:srgbClr val="1A7A9A"/>
                </a:solidFill>
                <a:latin typeface="Calibri" pitchFamily="34" charset="0"/>
                <a:ea typeface="Calibri" pitchFamily="34" charset="-122"/>
                <a:cs typeface="Calibri" pitchFamily="34" charset="-120"/>
              </a:rPr>
              <a:t>Attention Mechanisms</a:t>
            </a:r>
            <a:endParaRPr lang="en-US" sz="1300" dirty="0"/>
          </a:p>
        </p:txBody>
      </p:sp>
      <p:sp>
        <p:nvSpPr>
          <p:cNvPr id="12" name="Text 10"/>
          <p:cNvSpPr/>
          <p:nvPr/>
        </p:nvSpPr>
        <p:spPr>
          <a:xfrm>
            <a:off x="4846320" y="153619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Integrate self-attention or channel-attention layers to let the model focus dynamically on the most discriminative retinal regions for each disease.</a:t>
            </a:r>
            <a:endParaRPr lang="en-US" sz="1150" dirty="0"/>
          </a:p>
        </p:txBody>
      </p:sp>
      <p:sp>
        <p:nvSpPr>
          <p:cNvPr id="13" name="Shape 11"/>
          <p:cNvSpPr/>
          <p:nvPr/>
        </p:nvSpPr>
        <p:spPr>
          <a:xfrm>
            <a:off x="256032" y="244144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256032" y="2441448"/>
            <a:ext cx="164592" cy="1188720"/>
          </a:xfrm>
          <a:prstGeom prst="rect">
            <a:avLst/>
          </a:prstGeom>
          <a:solidFill>
            <a:srgbClr val="1A8C5B"/>
          </a:solidFill>
          <a:ln/>
        </p:spPr>
        <p:txBody>
          <a:bodyPr/>
          <a:lstStyle/>
          <a:p>
            <a:endParaRPr lang="en-US"/>
          </a:p>
        </p:txBody>
      </p:sp>
      <p:sp>
        <p:nvSpPr>
          <p:cNvPr id="15" name="Text 13"/>
          <p:cNvSpPr/>
          <p:nvPr/>
        </p:nvSpPr>
        <p:spPr>
          <a:xfrm>
            <a:off x="512064" y="2532888"/>
            <a:ext cx="3703320" cy="320040"/>
          </a:xfrm>
          <a:prstGeom prst="rect">
            <a:avLst/>
          </a:prstGeom>
          <a:noFill/>
          <a:ln/>
        </p:spPr>
        <p:txBody>
          <a:bodyPr wrap="square" lIns="0" tIns="0" rIns="0" bIns="0" rtlCol="0" anchor="ctr"/>
          <a:lstStyle/>
          <a:p>
            <a:pPr marL="0" indent="0">
              <a:buNone/>
            </a:pPr>
            <a:r>
              <a:rPr lang="en-US" sz="1300" b="1" dirty="0">
                <a:solidFill>
                  <a:srgbClr val="1A8C5B"/>
                </a:solidFill>
                <a:latin typeface="Calibri" pitchFamily="34" charset="0"/>
                <a:ea typeface="Calibri" pitchFamily="34" charset="-122"/>
                <a:cs typeface="Calibri" pitchFamily="34" charset="-120"/>
              </a:rPr>
              <a:t>Larger &amp; Diverse Datasets</a:t>
            </a:r>
            <a:endParaRPr lang="en-US" sz="1300" dirty="0"/>
          </a:p>
        </p:txBody>
      </p:sp>
      <p:sp>
        <p:nvSpPr>
          <p:cNvPr id="16" name="Text 14"/>
          <p:cNvSpPr/>
          <p:nvPr/>
        </p:nvSpPr>
        <p:spPr>
          <a:xfrm>
            <a:off x="512064" y="286207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Expand training data with images from multiple camera types, ethnicities, and imaging conditions to improve generalization across real-world screening programs.</a:t>
            </a:r>
            <a:endParaRPr lang="en-US" sz="1150" dirty="0"/>
          </a:p>
        </p:txBody>
      </p:sp>
      <p:sp>
        <p:nvSpPr>
          <p:cNvPr id="17" name="Shape 15"/>
          <p:cNvSpPr/>
          <p:nvPr/>
        </p:nvSpPr>
        <p:spPr>
          <a:xfrm>
            <a:off x="4590288" y="244144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4590288" y="2441448"/>
            <a:ext cx="164592" cy="1188720"/>
          </a:xfrm>
          <a:prstGeom prst="rect">
            <a:avLst/>
          </a:prstGeom>
          <a:solidFill>
            <a:srgbClr val="D97706"/>
          </a:solidFill>
          <a:ln/>
        </p:spPr>
        <p:txBody>
          <a:bodyPr/>
          <a:lstStyle/>
          <a:p>
            <a:endParaRPr lang="en-US"/>
          </a:p>
        </p:txBody>
      </p:sp>
      <p:sp>
        <p:nvSpPr>
          <p:cNvPr id="19" name="Text 17"/>
          <p:cNvSpPr/>
          <p:nvPr/>
        </p:nvSpPr>
        <p:spPr>
          <a:xfrm>
            <a:off x="4846320" y="2532888"/>
            <a:ext cx="3703320" cy="32004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Transfer Learning</a:t>
            </a:r>
            <a:endParaRPr lang="en-US" sz="1300" dirty="0"/>
          </a:p>
        </p:txBody>
      </p:sp>
      <p:sp>
        <p:nvSpPr>
          <p:cNvPr id="20" name="Text 18"/>
          <p:cNvSpPr/>
          <p:nvPr/>
        </p:nvSpPr>
        <p:spPr>
          <a:xfrm>
            <a:off x="4846320" y="286207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Fine-tune models pre-trained on large ophthalmic corpora (e.g., EfficientNet-B4 on APTOS) to push accuracy beyond the current 92.9% baseline.</a:t>
            </a:r>
            <a:endParaRPr lang="en-US" sz="1150" dirty="0"/>
          </a:p>
        </p:txBody>
      </p:sp>
      <p:sp>
        <p:nvSpPr>
          <p:cNvPr id="21" name="Shape 19"/>
          <p:cNvSpPr/>
          <p:nvPr/>
        </p:nvSpPr>
        <p:spPr>
          <a:xfrm>
            <a:off x="256032" y="376732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20"/>
          <p:cNvSpPr/>
          <p:nvPr/>
        </p:nvSpPr>
        <p:spPr>
          <a:xfrm>
            <a:off x="256032" y="3767328"/>
            <a:ext cx="164592" cy="1188720"/>
          </a:xfrm>
          <a:prstGeom prst="rect">
            <a:avLst/>
          </a:prstGeom>
          <a:solidFill>
            <a:srgbClr val="7B2D8B"/>
          </a:solidFill>
          <a:ln/>
        </p:spPr>
        <p:txBody>
          <a:bodyPr/>
          <a:lstStyle/>
          <a:p>
            <a:endParaRPr lang="en-US"/>
          </a:p>
        </p:txBody>
      </p:sp>
      <p:sp>
        <p:nvSpPr>
          <p:cNvPr id="23" name="Text 21"/>
          <p:cNvSpPr/>
          <p:nvPr/>
        </p:nvSpPr>
        <p:spPr>
          <a:xfrm>
            <a:off x="512064" y="3858768"/>
            <a:ext cx="3703320" cy="320040"/>
          </a:xfrm>
          <a:prstGeom prst="rect">
            <a:avLst/>
          </a:prstGeom>
          <a:noFill/>
          <a:ln/>
        </p:spPr>
        <p:txBody>
          <a:bodyPr wrap="square" lIns="0" tIns="0" rIns="0" bIns="0" rtlCol="0" anchor="ctr"/>
          <a:lstStyle/>
          <a:p>
            <a:pPr marL="0" indent="0">
              <a:buNone/>
            </a:pPr>
            <a:r>
              <a:rPr lang="en-US" sz="1300" b="1" dirty="0">
                <a:solidFill>
                  <a:srgbClr val="7B2D8B"/>
                </a:solidFill>
                <a:latin typeface="Calibri" pitchFamily="34" charset="0"/>
                <a:ea typeface="Calibri" pitchFamily="34" charset="-122"/>
                <a:cs typeface="Calibri" pitchFamily="34" charset="-120"/>
              </a:rPr>
              <a:t>Mobile Deployment</a:t>
            </a:r>
            <a:endParaRPr lang="en-US" sz="1300" dirty="0"/>
          </a:p>
        </p:txBody>
      </p:sp>
      <p:sp>
        <p:nvSpPr>
          <p:cNvPr id="24" name="Text 22"/>
          <p:cNvSpPr/>
          <p:nvPr/>
        </p:nvSpPr>
        <p:spPr>
          <a:xfrm>
            <a:off x="512064" y="418795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Convert the model to TensorFlow Lite and wrap it in a Flutter app so community health workers can perform screenings offline using a smartphone camera.</a:t>
            </a:r>
            <a:endParaRPr lang="en-US" sz="1150" dirty="0"/>
          </a:p>
        </p:txBody>
      </p:sp>
      <p:sp>
        <p:nvSpPr>
          <p:cNvPr id="25" name="Shape 23"/>
          <p:cNvSpPr/>
          <p:nvPr/>
        </p:nvSpPr>
        <p:spPr>
          <a:xfrm>
            <a:off x="4590288" y="376732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6" name="Shape 24"/>
          <p:cNvSpPr/>
          <p:nvPr/>
        </p:nvSpPr>
        <p:spPr>
          <a:xfrm>
            <a:off x="4590288" y="3767328"/>
            <a:ext cx="164592" cy="1188720"/>
          </a:xfrm>
          <a:prstGeom prst="rect">
            <a:avLst/>
          </a:prstGeom>
          <a:solidFill>
            <a:srgbClr val="8B2020"/>
          </a:solidFill>
          <a:ln/>
        </p:spPr>
        <p:txBody>
          <a:bodyPr/>
          <a:lstStyle/>
          <a:p>
            <a:endParaRPr lang="en-US"/>
          </a:p>
        </p:txBody>
      </p:sp>
      <p:sp>
        <p:nvSpPr>
          <p:cNvPr id="27" name="Text 25"/>
          <p:cNvSpPr/>
          <p:nvPr/>
        </p:nvSpPr>
        <p:spPr>
          <a:xfrm>
            <a:off x="4846320" y="3858768"/>
            <a:ext cx="3703320" cy="320040"/>
          </a:xfrm>
          <a:prstGeom prst="rect">
            <a:avLst/>
          </a:prstGeom>
          <a:noFill/>
          <a:ln/>
        </p:spPr>
        <p:txBody>
          <a:bodyPr wrap="square" lIns="0" tIns="0" rIns="0" bIns="0" rtlCol="0" anchor="ctr"/>
          <a:lstStyle/>
          <a:p>
            <a:pPr marL="0" indent="0">
              <a:buNone/>
            </a:pPr>
            <a:r>
              <a:rPr lang="en-US" sz="1300" b="1" dirty="0">
                <a:solidFill>
                  <a:srgbClr val="8B2020"/>
                </a:solidFill>
                <a:latin typeface="Calibri" pitchFamily="34" charset="0"/>
                <a:ea typeface="Calibri" pitchFamily="34" charset="-122"/>
                <a:cs typeface="Calibri" pitchFamily="34" charset="-120"/>
              </a:rPr>
              <a:t>EHR Integration</a:t>
            </a:r>
            <a:endParaRPr lang="en-US" sz="1300" dirty="0"/>
          </a:p>
        </p:txBody>
      </p:sp>
      <p:sp>
        <p:nvSpPr>
          <p:cNvPr id="28" name="Text 26"/>
          <p:cNvSpPr/>
          <p:nvPr/>
        </p:nvSpPr>
        <p:spPr>
          <a:xfrm>
            <a:off x="4846320" y="418795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Connect the system to Electronic Health Record platforms so predictions, severity scores, and trend histories are automatically logged in patient files.</a:t>
            </a:r>
            <a:endParaRPr lang="en-US" sz="1150" dirty="0"/>
          </a:p>
        </p:txBody>
      </p:sp>
      <p:sp>
        <p:nvSpPr>
          <p:cNvPr id="29" name="Text 27"/>
          <p:cNvSpPr/>
          <p:nvPr/>
        </p:nvSpPr>
        <p:spPr>
          <a:xfrm>
            <a:off x="274320" y="5120640"/>
            <a:ext cx="8595360" cy="246888"/>
          </a:xfrm>
          <a:prstGeom prst="rect">
            <a:avLst/>
          </a:prstGeom>
          <a:noFill/>
          <a:ln/>
        </p:spPr>
        <p:txBody>
          <a:bodyPr wrap="square" lIns="0" tIns="0" rIns="0" bIns="0" rtlCol="0" anchor="ctr"/>
          <a:lstStyle/>
          <a:p>
            <a:pPr marL="0" indent="0" algn="ctr">
              <a:buNone/>
            </a:pPr>
            <a:r>
              <a:rPr lang="en-US" sz="1200" i="1" dirty="0">
                <a:solidFill>
                  <a:srgbClr val="1A7A9A"/>
                </a:solidFill>
                <a:latin typeface="Calibri" pitchFamily="34" charset="0"/>
                <a:ea typeface="Calibri" pitchFamily="34" charset="-122"/>
                <a:cs typeface="Calibri" pitchFamily="34" charset="-120"/>
              </a:rPr>
              <a:t>The groundwork laid in this project — multi-output learning + live deployment — provides a solid platform for all these extensions.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References (2021–2025)</a:t>
            </a:r>
            <a:endParaRPr lang="en-US" sz="2700" dirty="0"/>
          </a:p>
        </p:txBody>
      </p:sp>
      <p:sp>
        <p:nvSpPr>
          <p:cNvPr id="5" name="Text 3"/>
          <p:cNvSpPr/>
          <p:nvPr/>
        </p:nvSpPr>
        <p:spPr>
          <a:xfrm>
            <a:off x="274320" y="1115568"/>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[1]  </a:t>
            </a:r>
            <a:r>
              <a:rPr lang="en-US" sz="1100" dirty="0">
                <a:solidFill>
                  <a:srgbClr val="1A202C"/>
                </a:solidFill>
                <a:latin typeface="Calibri" pitchFamily="34" charset="0"/>
                <a:ea typeface="Calibri" pitchFamily="34" charset="-122"/>
                <a:cs typeface="Calibri" pitchFamily="34" charset="-120"/>
              </a:rPr>
              <a:t>Li et al. -- Deep Learning Models for Fundus Disease Detection -- IEEE Transactions on Medical Imaging, 2022</a:t>
            </a:r>
            <a:endParaRPr lang="en-US" sz="1100" dirty="0"/>
          </a:p>
        </p:txBody>
      </p:sp>
      <p:sp>
        <p:nvSpPr>
          <p:cNvPr id="6" name="Text 4"/>
          <p:cNvSpPr/>
          <p:nvPr/>
        </p:nvSpPr>
        <p:spPr>
          <a:xfrm>
            <a:off x="274320" y="1499616"/>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[2]  </a:t>
            </a:r>
            <a:r>
              <a:rPr lang="en-US" sz="1100" dirty="0">
                <a:solidFill>
                  <a:srgbClr val="1A202C"/>
                </a:solidFill>
                <a:latin typeface="Calibri" pitchFamily="34" charset="0"/>
                <a:ea typeface="Calibri" pitchFamily="34" charset="-122"/>
                <a:cs typeface="Calibri" pitchFamily="34" charset="-120"/>
              </a:rPr>
              <a:t>Zhou et al. -- CNN Architectures for Medical Image Classification -- Elsevier, 2023</a:t>
            </a:r>
            <a:endParaRPr lang="en-US" sz="1100" dirty="0"/>
          </a:p>
        </p:txBody>
      </p:sp>
      <p:sp>
        <p:nvSpPr>
          <p:cNvPr id="7" name="Text 5"/>
          <p:cNvSpPr/>
          <p:nvPr/>
        </p:nvSpPr>
        <p:spPr>
          <a:xfrm>
            <a:off x="274320" y="1883664"/>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[3]  </a:t>
            </a:r>
            <a:r>
              <a:rPr lang="en-US" sz="1100" dirty="0">
                <a:solidFill>
                  <a:srgbClr val="1A202C"/>
                </a:solidFill>
                <a:latin typeface="Calibri" pitchFamily="34" charset="0"/>
                <a:ea typeface="Calibri" pitchFamily="34" charset="-122"/>
                <a:cs typeface="Calibri" pitchFamily="34" charset="-120"/>
              </a:rPr>
              <a:t>Kumar &amp; Singh -- Severity Estimation in Retinal Imaging -- Springer, 2024</a:t>
            </a:r>
            <a:endParaRPr lang="en-US" sz="1100" dirty="0"/>
          </a:p>
        </p:txBody>
      </p:sp>
      <p:sp>
        <p:nvSpPr>
          <p:cNvPr id="8" name="Text 6"/>
          <p:cNvSpPr/>
          <p:nvPr/>
        </p:nvSpPr>
        <p:spPr>
          <a:xfrm>
            <a:off x="274320" y="2267712"/>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[4]  </a:t>
            </a:r>
            <a:r>
              <a:rPr lang="en-US" sz="1100" dirty="0">
                <a:solidFill>
                  <a:srgbClr val="1A202C"/>
                </a:solidFill>
                <a:latin typeface="Calibri" pitchFamily="34" charset="0"/>
                <a:ea typeface="Calibri" pitchFamily="34" charset="-122"/>
                <a:cs typeface="Calibri" pitchFamily="34" charset="-120"/>
              </a:rPr>
              <a:t>Jain et al. -- Multi-Output CNNs for Medical Diagnostics -- ACM, 2023</a:t>
            </a:r>
            <a:endParaRPr lang="en-US" sz="1100" dirty="0"/>
          </a:p>
        </p:txBody>
      </p:sp>
      <p:sp>
        <p:nvSpPr>
          <p:cNvPr id="9" name="Text 7"/>
          <p:cNvSpPr/>
          <p:nvPr/>
        </p:nvSpPr>
        <p:spPr>
          <a:xfrm>
            <a:off x="274320" y="2651760"/>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[5]  </a:t>
            </a:r>
            <a:r>
              <a:rPr lang="en-US" sz="1100" dirty="0">
                <a:solidFill>
                  <a:srgbClr val="1A202C"/>
                </a:solidFill>
                <a:latin typeface="Calibri" pitchFamily="34" charset="0"/>
                <a:ea typeface="Calibri" pitchFamily="34" charset="-122"/>
                <a:cs typeface="Calibri" pitchFamily="34" charset="-120"/>
              </a:rPr>
              <a:t>Wang et al. -- Attention-Based Networks for Diabetic Retinopathy Detection -- IEEE Access, 2022</a:t>
            </a:r>
            <a:endParaRPr lang="en-US" sz="1100" dirty="0"/>
          </a:p>
        </p:txBody>
      </p:sp>
      <p:sp>
        <p:nvSpPr>
          <p:cNvPr id="10" name="Text 8"/>
          <p:cNvSpPr/>
          <p:nvPr/>
        </p:nvSpPr>
        <p:spPr>
          <a:xfrm>
            <a:off x="274320" y="3035808"/>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[6]  </a:t>
            </a:r>
            <a:r>
              <a:rPr lang="en-US" sz="1100" dirty="0">
                <a:solidFill>
                  <a:srgbClr val="1A202C"/>
                </a:solidFill>
                <a:latin typeface="Calibri" pitchFamily="34" charset="0"/>
                <a:ea typeface="Calibri" pitchFamily="34" charset="-122"/>
                <a:cs typeface="Calibri" pitchFamily="34" charset="-120"/>
              </a:rPr>
              <a:t>Xu et al. -- EfficientNet-Based Retinal Disease Detection -- IEEE Access, 2021</a:t>
            </a:r>
            <a:endParaRPr lang="en-US" sz="1100" dirty="0"/>
          </a:p>
        </p:txBody>
      </p:sp>
      <p:sp>
        <p:nvSpPr>
          <p:cNvPr id="11" name="Text 9"/>
          <p:cNvSpPr/>
          <p:nvPr/>
        </p:nvSpPr>
        <p:spPr>
          <a:xfrm>
            <a:off x="4846320" y="1115568"/>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[7]  </a:t>
            </a:r>
            <a:r>
              <a:rPr lang="en-US" sz="1100" dirty="0">
                <a:solidFill>
                  <a:srgbClr val="1A202C"/>
                </a:solidFill>
                <a:latin typeface="Calibri" pitchFamily="34" charset="0"/>
                <a:ea typeface="Calibri" pitchFamily="34" charset="-122"/>
                <a:cs typeface="Calibri" pitchFamily="34" charset="-120"/>
              </a:rPr>
              <a:t>Enomoto et al. -- Explainability in Medical AI Using CAM and Grad-CAM -- ACM Healthcare Informatics, 2022</a:t>
            </a:r>
            <a:endParaRPr lang="en-US" sz="1100" dirty="0"/>
          </a:p>
        </p:txBody>
      </p:sp>
      <p:sp>
        <p:nvSpPr>
          <p:cNvPr id="12" name="Text 10"/>
          <p:cNvSpPr/>
          <p:nvPr/>
        </p:nvSpPr>
        <p:spPr>
          <a:xfrm>
            <a:off x="4846320" y="1499616"/>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[8]  </a:t>
            </a:r>
            <a:r>
              <a:rPr lang="en-US" sz="1100" dirty="0">
                <a:solidFill>
                  <a:srgbClr val="1A202C"/>
                </a:solidFill>
                <a:latin typeface="Calibri" pitchFamily="34" charset="0"/>
                <a:ea typeface="Calibri" pitchFamily="34" charset="-122"/>
                <a:cs typeface="Calibri" pitchFamily="34" charset="-120"/>
              </a:rPr>
              <a:t>Tan et al. -- Multi-Task Learning for Classification and Regression in Medical Imaging -- IEEE Neural Networks, 2023</a:t>
            </a:r>
            <a:endParaRPr lang="en-US" sz="1100" dirty="0"/>
          </a:p>
        </p:txBody>
      </p:sp>
      <p:sp>
        <p:nvSpPr>
          <p:cNvPr id="13" name="Text 11"/>
          <p:cNvSpPr/>
          <p:nvPr/>
        </p:nvSpPr>
        <p:spPr>
          <a:xfrm>
            <a:off x="4846320" y="1883664"/>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[9]  </a:t>
            </a:r>
            <a:r>
              <a:rPr lang="en-US" sz="1100" dirty="0">
                <a:solidFill>
                  <a:srgbClr val="1A202C"/>
                </a:solidFill>
                <a:latin typeface="Calibri" pitchFamily="34" charset="0"/>
                <a:ea typeface="Calibri" pitchFamily="34" charset="-122"/>
                <a:cs typeface="Calibri" pitchFamily="34" charset="-120"/>
              </a:rPr>
              <a:t>Das et al. -- Deploying Deep Learning Models Using Streamlit -- Journal of Applied Data Science, 2023</a:t>
            </a:r>
            <a:endParaRPr lang="en-US" sz="1100" dirty="0"/>
          </a:p>
        </p:txBody>
      </p:sp>
      <p:sp>
        <p:nvSpPr>
          <p:cNvPr id="14" name="Text 12"/>
          <p:cNvSpPr/>
          <p:nvPr/>
        </p:nvSpPr>
        <p:spPr>
          <a:xfrm>
            <a:off x="4846320" y="2267712"/>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[10]  </a:t>
            </a:r>
            <a:r>
              <a:rPr lang="en-US" sz="1100" dirty="0">
                <a:solidFill>
                  <a:srgbClr val="1A202C"/>
                </a:solidFill>
                <a:latin typeface="Calibri" pitchFamily="34" charset="0"/>
                <a:ea typeface="Calibri" pitchFamily="34" charset="-122"/>
                <a:cs typeface="Calibri" pitchFamily="34" charset="-120"/>
              </a:rPr>
              <a:t>Roy et al. -- Deep Learning-Based Screening Tools for Community Ophthalmology -- WHO Digital Health, 2024</a:t>
            </a:r>
            <a:endParaRPr lang="en-US" sz="1100" dirty="0"/>
          </a:p>
        </p:txBody>
      </p:sp>
      <p:sp>
        <p:nvSpPr>
          <p:cNvPr id="15" name="Text 13"/>
          <p:cNvSpPr/>
          <p:nvPr/>
        </p:nvSpPr>
        <p:spPr>
          <a:xfrm>
            <a:off x="4846320" y="2651760"/>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[11]  </a:t>
            </a:r>
            <a:r>
              <a:rPr lang="en-US" sz="1100" dirty="0">
                <a:solidFill>
                  <a:srgbClr val="1A202C"/>
                </a:solidFill>
                <a:latin typeface="Calibri" pitchFamily="34" charset="0"/>
                <a:ea typeface="Calibri" pitchFamily="34" charset="-122"/>
                <a:cs typeface="Calibri" pitchFamily="34" charset="-120"/>
              </a:rPr>
              <a:t>Lin et al. -- Comparative Study of Fundus Classification Models -- Int. Journal of Computer Vision, 2025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EC4B6"/>
          </a:solidFill>
          <a:ln/>
        </p:spPr>
        <p:txBody>
          <a:bodyPr/>
          <a:lstStyle/>
          <a:p>
            <a:endParaRPr lang="en-US"/>
          </a:p>
        </p:txBody>
      </p:sp>
      <p:sp>
        <p:nvSpPr>
          <p:cNvPr id="3" name="Shape 1"/>
          <p:cNvSpPr/>
          <p:nvPr/>
        </p:nvSpPr>
        <p:spPr>
          <a:xfrm>
            <a:off x="6217920" y="411480"/>
            <a:ext cx="2743200" cy="2743200"/>
          </a:xfrm>
          <a:prstGeom prst="ellipse">
            <a:avLst/>
          </a:prstGeom>
          <a:solidFill>
            <a:srgbClr val="112255"/>
          </a:solidFill>
          <a:ln w="38100">
            <a:solidFill>
              <a:srgbClr val="2EC4B6"/>
            </a:solidFill>
            <a:prstDash val="solid"/>
          </a:ln>
        </p:spPr>
        <p:txBody>
          <a:bodyPr/>
          <a:lstStyle/>
          <a:p>
            <a:endParaRPr lang="en-US"/>
          </a:p>
        </p:txBody>
      </p:sp>
      <p:sp>
        <p:nvSpPr>
          <p:cNvPr id="4" name="Shape 2"/>
          <p:cNvSpPr/>
          <p:nvPr/>
        </p:nvSpPr>
        <p:spPr>
          <a:xfrm>
            <a:off x="6720840" y="914400"/>
            <a:ext cx="1737360" cy="1737360"/>
          </a:xfrm>
          <a:prstGeom prst="ellipse">
            <a:avLst/>
          </a:prstGeom>
          <a:solidFill>
            <a:srgbClr val="1A7A9A">
              <a:alpha val="55000"/>
            </a:srgbClr>
          </a:solidFill>
          <a:ln w="25400">
            <a:solidFill>
              <a:srgbClr val="2EC4B6"/>
            </a:solidFill>
            <a:prstDash val="solid"/>
          </a:ln>
        </p:spPr>
        <p:txBody>
          <a:bodyPr/>
          <a:lstStyle/>
          <a:p>
            <a:endParaRPr lang="en-US"/>
          </a:p>
        </p:txBody>
      </p:sp>
      <p:sp>
        <p:nvSpPr>
          <p:cNvPr id="5" name="Shape 3"/>
          <p:cNvSpPr/>
          <p:nvPr/>
        </p:nvSpPr>
        <p:spPr>
          <a:xfrm>
            <a:off x="7178040" y="1371600"/>
            <a:ext cx="822960" cy="822960"/>
          </a:xfrm>
          <a:prstGeom prst="ellipse">
            <a:avLst/>
          </a:prstGeom>
          <a:solidFill>
            <a:srgbClr val="2EC4B6"/>
          </a:solidFill>
          <a:ln/>
        </p:spPr>
        <p:txBody>
          <a:bodyPr/>
          <a:lstStyle/>
          <a:p>
            <a:endParaRPr lang="en-US"/>
          </a:p>
        </p:txBody>
      </p:sp>
      <p:sp>
        <p:nvSpPr>
          <p:cNvPr id="6" name="Text 4"/>
          <p:cNvSpPr/>
          <p:nvPr/>
        </p:nvSpPr>
        <p:spPr>
          <a:xfrm>
            <a:off x="457200" y="1005840"/>
            <a:ext cx="5303520" cy="1280160"/>
          </a:xfrm>
          <a:prstGeom prst="rect">
            <a:avLst/>
          </a:prstGeom>
          <a:noFill/>
          <a:ln/>
        </p:spPr>
        <p:txBody>
          <a:bodyPr wrap="square" lIns="0" tIns="0" rIns="0" bIns="0" rtlCol="0" anchor="ctr"/>
          <a:lstStyle/>
          <a:p>
            <a:pPr marL="0" indent="0" algn="l">
              <a:buNone/>
            </a:pPr>
            <a:r>
              <a:rPr lang="en-US" sz="5400" b="1" dirty="0">
                <a:solidFill>
                  <a:srgbClr val="FFFFFF"/>
                </a:solidFill>
                <a:latin typeface="Georgia" pitchFamily="34" charset="0"/>
                <a:ea typeface="Georgia" pitchFamily="34" charset="-122"/>
                <a:cs typeface="Georgia" pitchFamily="34" charset="-120"/>
              </a:rPr>
              <a:t>Thank You</a:t>
            </a:r>
            <a:endParaRPr lang="en-US" sz="5400" dirty="0"/>
          </a:p>
        </p:txBody>
      </p:sp>
      <p:sp>
        <p:nvSpPr>
          <p:cNvPr id="7" name="Text 5"/>
          <p:cNvSpPr/>
          <p:nvPr/>
        </p:nvSpPr>
        <p:spPr>
          <a:xfrm>
            <a:off x="457200" y="2331720"/>
            <a:ext cx="5303520" cy="502920"/>
          </a:xfrm>
          <a:prstGeom prst="rect">
            <a:avLst/>
          </a:prstGeom>
          <a:noFill/>
          <a:ln/>
        </p:spPr>
        <p:txBody>
          <a:bodyPr wrap="square" lIns="0" tIns="0" rIns="0" bIns="0" rtlCol="0" anchor="ctr"/>
          <a:lstStyle/>
          <a:p>
            <a:pPr marL="0" indent="0" algn="l">
              <a:buNone/>
            </a:pPr>
            <a:r>
              <a:rPr lang="en-US" sz="2000" i="1" dirty="0">
                <a:solidFill>
                  <a:srgbClr val="2EC4B6"/>
                </a:solidFill>
                <a:latin typeface="Calibri" pitchFamily="34" charset="0"/>
                <a:ea typeface="Calibri" pitchFamily="34" charset="-122"/>
                <a:cs typeface="Calibri" pitchFamily="34" charset="-120"/>
              </a:rPr>
              <a:t>Questions are welcome!</a:t>
            </a:r>
            <a:endParaRPr lang="en-US" sz="2000" dirty="0"/>
          </a:p>
        </p:txBody>
      </p:sp>
      <p:sp>
        <p:nvSpPr>
          <p:cNvPr id="8" name="Shape 6"/>
          <p:cNvSpPr/>
          <p:nvPr/>
        </p:nvSpPr>
        <p:spPr>
          <a:xfrm>
            <a:off x="457200" y="3017520"/>
            <a:ext cx="5029200" cy="1645920"/>
          </a:xfrm>
          <a:prstGeom prst="rect">
            <a:avLst/>
          </a:prstGeom>
          <a:solidFill>
            <a:srgbClr val="1A7A9A">
              <a:alpha val="20000"/>
            </a:srgbClr>
          </a:solidFill>
          <a:ln w="12700">
            <a:solidFill>
              <a:srgbClr val="2EC4B6"/>
            </a:solidFill>
            <a:prstDash val="solid"/>
          </a:ln>
        </p:spPr>
        <p:txBody>
          <a:bodyPr/>
          <a:lstStyle/>
          <a:p>
            <a:endParaRPr lang="en-US"/>
          </a:p>
        </p:txBody>
      </p:sp>
      <p:sp>
        <p:nvSpPr>
          <p:cNvPr id="9" name="Text 7"/>
          <p:cNvSpPr/>
          <p:nvPr/>
        </p:nvSpPr>
        <p:spPr>
          <a:xfrm>
            <a:off x="640080" y="3090672"/>
            <a:ext cx="4663440" cy="347472"/>
          </a:xfrm>
          <a:prstGeom prst="rect">
            <a:avLst/>
          </a:prstGeom>
          <a:noFill/>
          <a:ln/>
        </p:spPr>
        <p:txBody>
          <a:bodyPr wrap="square" lIns="0" tIns="0" rIns="0" bIns="0" rtlCol="0" anchor="ctr"/>
          <a:lstStyle/>
          <a:p>
            <a:pPr marL="0" indent="0">
              <a:buNone/>
            </a:pPr>
            <a:r>
              <a:rPr lang="en-US" sz="1500" b="1" dirty="0">
                <a:solidFill>
                  <a:srgbClr val="2EC4B6"/>
                </a:solidFill>
                <a:latin typeface="Calibri" pitchFamily="34" charset="0"/>
                <a:ea typeface="Calibri" pitchFamily="34" charset="-122"/>
                <a:cs typeface="Calibri" pitchFamily="34" charset="-120"/>
              </a:rPr>
              <a:t>Team S3-T23</a:t>
            </a:r>
            <a:endParaRPr lang="en-US" sz="1500" dirty="0"/>
          </a:p>
        </p:txBody>
      </p:sp>
      <p:sp>
        <p:nvSpPr>
          <p:cNvPr id="10" name="Text 8"/>
          <p:cNvSpPr/>
          <p:nvPr/>
        </p:nvSpPr>
        <p:spPr>
          <a:xfrm>
            <a:off x="640080" y="3474720"/>
            <a:ext cx="4663440" cy="10515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Lakshay Nayak — E23CSEU1873
</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Disha Gupta — E23CSEU2039
</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Prashant Kumar — E23CSEU1897</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2307</Words>
  <Application>Microsoft Office PowerPoint</Application>
  <PresentationFormat>On-screen Show (16:9)</PresentationFormat>
  <Paragraphs>267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Retina Eye Disease Detection</dc:title>
  <dc:subject>PptxGenJS Presentation</dc:subject>
  <dc:creator>PptxGenJS</dc:creator>
  <cp:lastModifiedBy>Prashant  Kumar</cp:lastModifiedBy>
  <cp:revision>3</cp:revision>
  <dcterms:created xsi:type="dcterms:W3CDTF">2026-04-18T18:28:35Z</dcterms:created>
  <dcterms:modified xsi:type="dcterms:W3CDTF">2026-04-21T17:50:34Z</dcterms:modified>
</cp:coreProperties>
</file>